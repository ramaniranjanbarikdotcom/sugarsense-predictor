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62" autoAdjust="0"/>
    <p:restoredTop sz="94660"/>
  </p:normalViewPr>
  <p:slideViewPr>
    <p:cSldViewPr snapToGrid="0">
      <p:cViewPr>
        <p:scale>
          <a:sx n="66" d="100"/>
          <a:sy n="66" d="100"/>
        </p:scale>
        <p:origin x="1190"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868F1-73F7-CD0D-E37E-1F155D5065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E13F070-75D1-9811-C638-A224F2F15C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FEE5FA-6971-3FFC-11FF-AEF675F1C771}"/>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FC4BCB0D-7724-1038-2480-B1DC8375FD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386881-B995-4563-471D-25A6A7228EFE}"/>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327177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D6BD9-2721-249A-C668-EF0C4E014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8ADBCB-225A-8A66-E839-C78A40F5EA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D3996-072E-FD73-FD7C-2924C42629BA}"/>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E5EC90DC-41E9-541D-2522-7DDF2AF19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F0567-7E82-5755-1678-7FE634286114}"/>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992619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A46D-FF6D-485C-13F2-354DE8B02F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BC45EA-455D-2E61-E741-A01F101616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714665-9B26-7973-615F-B3C591C02732}"/>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101A03A1-AA0C-6870-02EC-139680F0C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BCD1BC-1B84-4858-CAAC-05E1F73C4D43}"/>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501153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9CD0-650F-BD53-D66D-4AFC6B1800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FBED4F-DCF7-4648-08B5-A94C31E203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6EC91C-ACCE-B73F-81A6-3A69A9A5EB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76D68B-65C6-5D8F-8E32-7B78532A17FE}"/>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6" name="Footer Placeholder 5">
            <a:extLst>
              <a:ext uri="{FF2B5EF4-FFF2-40B4-BE49-F238E27FC236}">
                <a16:creationId xmlns:a16="http://schemas.microsoft.com/office/drawing/2014/main" id="{C1DEF299-B3E4-45E3-DBF0-21CCA39DAC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EA9429-1694-69DD-62D8-0B49A807F6D4}"/>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072529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C24CC-BBAE-6F8F-EC8A-947D60ECE9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6C0F8CF-5F46-F76F-610E-CF204DB6C4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4A3698-DCDF-1249-871E-DFC4BF1C571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076371-FDE2-98AB-5481-8C703778D0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BED691-81DC-C120-8993-63D6413CF3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551014-EE3A-F92D-FCC2-F00431C4F512}"/>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8" name="Footer Placeholder 7">
            <a:extLst>
              <a:ext uri="{FF2B5EF4-FFF2-40B4-BE49-F238E27FC236}">
                <a16:creationId xmlns:a16="http://schemas.microsoft.com/office/drawing/2014/main" id="{23445B9E-D8FB-5FC6-6EA0-EA3F7267C2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B8A502-CE67-3A50-A31D-381A5DA22499}"/>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768016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2780-8C66-4873-94E2-68C94DA383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A11952-4295-9DFD-C3A0-25D746D4D24E}"/>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4" name="Footer Placeholder 3">
            <a:extLst>
              <a:ext uri="{FF2B5EF4-FFF2-40B4-BE49-F238E27FC236}">
                <a16:creationId xmlns:a16="http://schemas.microsoft.com/office/drawing/2014/main" id="{648529A3-3F76-8F46-F810-5414F0764D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92E1C1-D625-0F8D-A634-00FC773D352E}"/>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245282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C5EAC-5641-1937-8379-A2C2CA37A686}"/>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3" name="Footer Placeholder 2">
            <a:extLst>
              <a:ext uri="{FF2B5EF4-FFF2-40B4-BE49-F238E27FC236}">
                <a16:creationId xmlns:a16="http://schemas.microsoft.com/office/drawing/2014/main" id="{44495BE0-F846-EF79-6D97-41E81DFC27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95C79B-0305-CE75-7AAB-1A0D32FDD5AD}"/>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1419505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867C2-DBE6-099E-FAEA-8A4EC32A44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B495594-1E98-A5BB-7C1A-7D3CD749C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F48CE4-0152-6C63-D75B-D79D4C419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D93D04-DFA6-F6BB-60F9-892C88B3D15B}"/>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6" name="Footer Placeholder 5">
            <a:extLst>
              <a:ext uri="{FF2B5EF4-FFF2-40B4-BE49-F238E27FC236}">
                <a16:creationId xmlns:a16="http://schemas.microsoft.com/office/drawing/2014/main" id="{760A0C0B-378A-1B52-D0A3-442D5EAE4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51A64-CAED-A73E-EC65-20CC9BA772F3}"/>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999105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D60A5-2B5F-FE36-0F6A-FCF43A2823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A18F0F9-5FDA-8CC8-0F80-75D06D2620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A83D0E-C004-8738-AA45-42FAC3E231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BDFAA6-502D-06A0-B3B5-B5F54BFC75DF}"/>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6" name="Footer Placeholder 5">
            <a:extLst>
              <a:ext uri="{FF2B5EF4-FFF2-40B4-BE49-F238E27FC236}">
                <a16:creationId xmlns:a16="http://schemas.microsoft.com/office/drawing/2014/main" id="{022A2FD7-049E-7903-8A66-CF69F5656D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AA635F-2230-1543-6498-F88E8B249D5A}"/>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3896085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FB330-5691-229A-1018-6DA59F962D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A1DCE1-9F93-EB84-906C-AF5E5876CD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822415-0A57-DE1F-97AA-E31E709AA0E9}"/>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7C43D425-4589-6DD3-44FD-83E1BFA0A4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E496C6-193F-7424-1787-F20FE5D1CD70}"/>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4257953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938FF3-7C52-1BF3-1150-BDA782E719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0473CA-4434-F837-78FE-8DC8727312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1AF7B-FFAD-B472-F506-980B854A4700}"/>
              </a:ext>
            </a:extLst>
          </p:cNvPr>
          <p:cNvSpPr>
            <a:spLocks noGrp="1"/>
          </p:cNvSpPr>
          <p:nvPr>
            <p:ph type="dt" sz="half" idx="10"/>
          </p:nvPr>
        </p:nvSpPr>
        <p:spPr/>
        <p:txBody>
          <a:body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6BD189E2-B5D6-313C-4BC1-4546CDBC69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AF85B-CB00-AE32-B84E-06DBDF945926}"/>
              </a:ext>
            </a:extLst>
          </p:cNvPr>
          <p:cNvSpPr>
            <a:spLocks noGrp="1"/>
          </p:cNvSpPr>
          <p:nvPr>
            <p:ph type="sldNum" sz="quarter" idx="12"/>
          </p:nvPr>
        </p:nvSpPr>
        <p:spPr/>
        <p:txBody>
          <a:bodyPr/>
          <a:lstStyle/>
          <a:p>
            <a:fld id="{D348411F-A2CF-4B1F-B2DC-F5CB7D762F79}" type="slidenum">
              <a:rPr lang="en-US" smtClean="0"/>
              <a:t>‹#›</a:t>
            </a:fld>
            <a:endParaRPr lang="en-US"/>
          </a:p>
        </p:txBody>
      </p:sp>
    </p:spTree>
    <p:extLst>
      <p:ext uri="{BB962C8B-B14F-4D97-AF65-F5344CB8AC3E}">
        <p14:creationId xmlns:p14="http://schemas.microsoft.com/office/powerpoint/2010/main" val="454310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DC308D-05D5-7593-DCD3-12D4BA9A11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8075F2-718C-F2F1-67A1-FC6A6FCB7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5A1C31-50DB-B265-E495-23C5E21251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36DB81-191E-4170-81D3-18A1EFF048D5}" type="datetimeFigureOut">
              <a:rPr lang="en-US" smtClean="0"/>
              <a:t>4/18/2026</a:t>
            </a:fld>
            <a:endParaRPr lang="en-US"/>
          </a:p>
        </p:txBody>
      </p:sp>
      <p:sp>
        <p:nvSpPr>
          <p:cNvPr id="5" name="Footer Placeholder 4">
            <a:extLst>
              <a:ext uri="{FF2B5EF4-FFF2-40B4-BE49-F238E27FC236}">
                <a16:creationId xmlns:a16="http://schemas.microsoft.com/office/drawing/2014/main" id="{C7CB23EB-AC23-904C-D8CB-DAEE0E6D6F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106AC6-3229-F63F-DF95-AB06ED057B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48411F-A2CF-4B1F-B2DC-F5CB7D762F79}" type="slidenum">
              <a:rPr lang="en-US" smtClean="0"/>
              <a:t>‹#›</a:t>
            </a:fld>
            <a:endParaRPr lang="en-US"/>
          </a:p>
        </p:txBody>
      </p:sp>
    </p:spTree>
    <p:extLst>
      <p:ext uri="{BB962C8B-B14F-4D97-AF65-F5344CB8AC3E}">
        <p14:creationId xmlns:p14="http://schemas.microsoft.com/office/powerpoint/2010/main" val="155475899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hyperlink" Target="http://emssolutionsint.blogspot.com.co/2016/12/cetoacidosis-la-diabetes-y-sus.html"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3.xml"/><Relationship Id="rId4" Type="http://schemas.openxmlformats.org/officeDocument/2006/relationships/hyperlink" Target="https://www.publicdomainpictures.net/en/view-image.php?image=238011&amp;picture=diabetes-stop"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BAF139A-AE1F-F395-4C92-1E79D35255A1}"/>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8" name="TextBox 7">
            <a:extLst>
              <a:ext uri="{FF2B5EF4-FFF2-40B4-BE49-F238E27FC236}">
                <a16:creationId xmlns:a16="http://schemas.microsoft.com/office/drawing/2014/main" id="{E5A668AC-B08B-6C74-E423-E821B5A87380}"/>
              </a:ext>
            </a:extLst>
          </p:cNvPr>
          <p:cNvSpPr txBox="1"/>
          <p:nvPr/>
        </p:nvSpPr>
        <p:spPr>
          <a:xfrm>
            <a:off x="762000" y="30147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10" name="Straight Connector 9">
            <a:extLst>
              <a:ext uri="{FF2B5EF4-FFF2-40B4-BE49-F238E27FC236}">
                <a16:creationId xmlns:a16="http://schemas.microsoft.com/office/drawing/2014/main" id="{3502F168-BB40-1C0F-61F6-F67EECB5B285}"/>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5" name="Text Placeholder 4">
            <a:extLst>
              <a:ext uri="{FF2B5EF4-FFF2-40B4-BE49-F238E27FC236}">
                <a16:creationId xmlns:a16="http://schemas.microsoft.com/office/drawing/2014/main" id="{673D903C-1EB7-B2EE-B6E7-71D77C800A7C}"/>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pic>
        <p:nvPicPr>
          <p:cNvPr id="1028" name="Picture 4" descr="Thought of our leaders">
            <a:extLst>
              <a:ext uri="{FF2B5EF4-FFF2-40B4-BE49-F238E27FC236}">
                <a16:creationId xmlns:a16="http://schemas.microsoft.com/office/drawing/2014/main" id="{1B334389-65CA-88F2-BBCD-E2C4074402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sp>
        <p:nvSpPr>
          <p:cNvPr id="13" name="Text Box 1">
            <a:extLst>
              <a:ext uri="{FF2B5EF4-FFF2-40B4-BE49-F238E27FC236}">
                <a16:creationId xmlns:a16="http://schemas.microsoft.com/office/drawing/2014/main" id="{E741E67C-BF72-24A6-5503-23A64DA36DC7}"/>
              </a:ext>
            </a:extLst>
          </p:cNvPr>
          <p:cNvSpPr txBox="1">
            <a:spLocks noChangeArrowheads="1"/>
          </p:cNvSpPr>
          <p:nvPr/>
        </p:nvSpPr>
        <p:spPr bwMode="auto">
          <a:xfrm>
            <a:off x="1671690" y="1003050"/>
            <a:ext cx="8848621" cy="1161011"/>
          </a:xfrm>
          <a:prstGeom prst="rect">
            <a:avLst/>
          </a:prstGeom>
          <a:noFill/>
          <a:ln w="9525" cap="flat">
            <a:noFill/>
            <a:round/>
            <a:headEnd/>
            <a:tailEnd/>
          </a:ln>
          <a:effectLst/>
        </p:spPr>
        <p:txBody>
          <a:bodyPr anchor="ctr"/>
          <a:lstStyle/>
          <a:p>
            <a:pPr algn="ctr">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dirty="0">
                <a:solidFill>
                  <a:srgbClr val="3333CC"/>
                </a:solidFill>
                <a:ea typeface="DejaVu Sans" charset="0"/>
                <a:cs typeface="DejaVu Sans" charset="0"/>
              </a:rPr>
              <a:t>Smart Diabetes Prediction &amp; Management</a:t>
            </a:r>
          </a:p>
        </p:txBody>
      </p:sp>
      <p:sp>
        <p:nvSpPr>
          <p:cNvPr id="14" name="Text Box 2">
            <a:extLst>
              <a:ext uri="{FF2B5EF4-FFF2-40B4-BE49-F238E27FC236}">
                <a16:creationId xmlns:a16="http://schemas.microsoft.com/office/drawing/2014/main" id="{A56A6E04-D7FE-C17C-A544-FF71ADE4F527}"/>
              </a:ext>
            </a:extLst>
          </p:cNvPr>
          <p:cNvSpPr txBox="1">
            <a:spLocks noChangeArrowheads="1"/>
          </p:cNvSpPr>
          <p:nvPr/>
        </p:nvSpPr>
        <p:spPr bwMode="auto">
          <a:xfrm>
            <a:off x="869181" y="5248422"/>
            <a:ext cx="11020610" cy="933110"/>
          </a:xfrm>
          <a:prstGeom prst="rect">
            <a:avLst/>
          </a:prstGeom>
          <a:noFill/>
          <a:ln w="9525" cap="flat">
            <a:noFill/>
            <a:round/>
            <a:headEnd/>
            <a:tailEnd/>
          </a:ln>
          <a:effectLst/>
        </p:spPr>
        <p:txBody>
          <a:bodyPr/>
          <a:lstStyle/>
          <a:p>
            <a:pPr algn="ctr">
              <a:spcBef>
                <a:spcPts val="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i="1" dirty="0">
                <a:solidFill>
                  <a:srgbClr val="0000CC"/>
                </a:solidFill>
                <a:ea typeface="DejaVu Sans" charset="0"/>
                <a:cs typeface="DejaVu Sans" charset="0"/>
              </a:rPr>
              <a:t>Under the guidance of</a:t>
            </a:r>
          </a:p>
          <a:p>
            <a:pPr algn="ctr">
              <a:spcBef>
                <a:spcPts val="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1" dirty="0">
                <a:solidFill>
                  <a:schemeClr val="tx1"/>
                </a:solidFill>
                <a:ea typeface="DejaVu Sans" charset="0"/>
                <a:cs typeface="DejaVu Sans" charset="0"/>
              </a:rPr>
              <a:t>Prof.  Nabin Kumar Nag</a:t>
            </a:r>
          </a:p>
          <a:p>
            <a:pPr algn="ctr" eaLnBrk="1" hangingPunct="1">
              <a:spcBef>
                <a:spcPts val="5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1" i="1" dirty="0">
              <a:solidFill>
                <a:srgbClr val="0000FF"/>
              </a:solidFill>
              <a:ea typeface="DejaVu Sans" charset="0"/>
              <a:cs typeface="DejaVu Sans" charset="0"/>
            </a:endParaRPr>
          </a:p>
        </p:txBody>
      </p:sp>
      <p:grpSp>
        <p:nvGrpSpPr>
          <p:cNvPr id="17" name="Group 16">
            <a:extLst>
              <a:ext uri="{FF2B5EF4-FFF2-40B4-BE49-F238E27FC236}">
                <a16:creationId xmlns:a16="http://schemas.microsoft.com/office/drawing/2014/main" id="{F85037D9-FD07-37A2-FA1A-F63C2C91D96F}"/>
              </a:ext>
            </a:extLst>
          </p:cNvPr>
          <p:cNvGrpSpPr/>
          <p:nvPr/>
        </p:nvGrpSpPr>
        <p:grpSpPr>
          <a:xfrm>
            <a:off x="978434" y="2496775"/>
            <a:ext cx="2795542" cy="2516101"/>
            <a:chOff x="978434" y="2407043"/>
            <a:chExt cx="2795542" cy="2516101"/>
          </a:xfrm>
        </p:grpSpPr>
        <p:sp>
          <p:nvSpPr>
            <p:cNvPr id="15" name="Text Box 2">
              <a:extLst>
                <a:ext uri="{FF2B5EF4-FFF2-40B4-BE49-F238E27FC236}">
                  <a16:creationId xmlns:a16="http://schemas.microsoft.com/office/drawing/2014/main" id="{9630996C-899B-EA4D-1AB0-B34012E80EDA}"/>
                </a:ext>
              </a:extLst>
            </p:cNvPr>
            <p:cNvSpPr txBox="1">
              <a:spLocks noChangeArrowheads="1"/>
            </p:cNvSpPr>
            <p:nvPr/>
          </p:nvSpPr>
          <p:spPr bwMode="auto">
            <a:xfrm>
              <a:off x="978434" y="3938418"/>
              <a:ext cx="2795542" cy="984726"/>
            </a:xfrm>
            <a:prstGeom prst="rect">
              <a:avLst/>
            </a:prstGeom>
            <a:noFill/>
            <a:ln w="9525" cap="flat">
              <a:noFill/>
              <a:round/>
              <a:headEnd/>
              <a:tailEnd/>
            </a:ln>
            <a:effectLst/>
          </p:spPr>
          <p:txBody>
            <a:bodyPr lIns="91440" tIns="45720" rIns="91440" bIns="45720" anchor="t"/>
            <a:lstStyle/>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dirty="0">
                  <a:solidFill>
                    <a:srgbClr val="000000"/>
                  </a:solidFill>
                  <a:latin typeface="Times New Roman"/>
                  <a:ea typeface="DejaVu Sans" charset="0"/>
                  <a:cs typeface="DejaVu Sans" charset="0"/>
                </a:rPr>
                <a:t>Student 1:                  </a:t>
              </a:r>
              <a:endParaRPr lang="en-US" dirty="0">
                <a:cs typeface="Times New Roman"/>
              </a:endParaRPr>
            </a:p>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dirty="0">
                  <a:solidFill>
                    <a:srgbClr val="000000"/>
                  </a:solidFill>
                  <a:latin typeface="Times New Roman"/>
                  <a:ea typeface="DejaVu Sans" charset="0"/>
                  <a:cs typeface="DejaVu Sans" charset="0"/>
                </a:rPr>
                <a:t>Roll No:</a:t>
              </a:r>
              <a:endParaRPr lang="en-US" dirty="0"/>
            </a:p>
          </p:txBody>
        </p:sp>
        <p:pic>
          <p:nvPicPr>
            <p:cNvPr id="16" name="Picture 15">
              <a:extLst>
                <a:ext uri="{FF2B5EF4-FFF2-40B4-BE49-F238E27FC236}">
                  <a16:creationId xmlns:a16="http://schemas.microsoft.com/office/drawing/2014/main" id="{43D35787-FF3C-0D05-AEA7-D3854E312B48}"/>
                </a:ext>
              </a:extLst>
            </p:cNvPr>
            <p:cNvPicPr>
              <a:picLocks noChangeAspect="1"/>
            </p:cNvPicPr>
            <p:nvPr/>
          </p:nvPicPr>
          <p:blipFill>
            <a:blip r:embed="rId3" cstate="print"/>
            <a:stretch>
              <a:fillRect/>
            </a:stretch>
          </p:blipFill>
          <p:spPr>
            <a:xfrm>
              <a:off x="1410188" y="2407043"/>
              <a:ext cx="1655340" cy="1503707"/>
            </a:xfrm>
            <a:prstGeom prst="rect">
              <a:avLst/>
            </a:prstGeom>
          </p:spPr>
        </p:pic>
      </p:grpSp>
      <p:grpSp>
        <p:nvGrpSpPr>
          <p:cNvPr id="18" name="Group 17">
            <a:extLst>
              <a:ext uri="{FF2B5EF4-FFF2-40B4-BE49-F238E27FC236}">
                <a16:creationId xmlns:a16="http://schemas.microsoft.com/office/drawing/2014/main" id="{2602133D-D8A1-48CE-14AA-8C4242BCD828}"/>
              </a:ext>
            </a:extLst>
          </p:cNvPr>
          <p:cNvGrpSpPr/>
          <p:nvPr/>
        </p:nvGrpSpPr>
        <p:grpSpPr>
          <a:xfrm>
            <a:off x="3861060" y="2496775"/>
            <a:ext cx="2795542" cy="2516101"/>
            <a:chOff x="978434" y="2407043"/>
            <a:chExt cx="2795542" cy="2516101"/>
          </a:xfrm>
        </p:grpSpPr>
        <p:sp>
          <p:nvSpPr>
            <p:cNvPr id="19" name="Text Box 2">
              <a:extLst>
                <a:ext uri="{FF2B5EF4-FFF2-40B4-BE49-F238E27FC236}">
                  <a16:creationId xmlns:a16="http://schemas.microsoft.com/office/drawing/2014/main" id="{9CA74B73-28D1-FE19-CB18-EBFCAA4F2A6B}"/>
                </a:ext>
              </a:extLst>
            </p:cNvPr>
            <p:cNvSpPr txBox="1">
              <a:spLocks noChangeArrowheads="1"/>
            </p:cNvSpPr>
            <p:nvPr/>
          </p:nvSpPr>
          <p:spPr bwMode="auto">
            <a:xfrm>
              <a:off x="978434" y="3938418"/>
              <a:ext cx="2795542" cy="984726"/>
            </a:xfrm>
            <a:prstGeom prst="rect">
              <a:avLst/>
            </a:prstGeom>
            <a:noFill/>
            <a:ln w="9525" cap="flat">
              <a:noFill/>
              <a:round/>
              <a:headEnd/>
              <a:tailEnd/>
            </a:ln>
            <a:effectLst/>
          </p:spPr>
          <p:txBody>
            <a:bodyPr lIns="91440" tIns="45720" rIns="91440" bIns="45720" anchor="t"/>
            <a:lstStyle/>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dirty="0">
                  <a:solidFill>
                    <a:srgbClr val="000000"/>
                  </a:solidFill>
                  <a:latin typeface="Times New Roman"/>
                  <a:ea typeface="DejaVu Sans" charset="0"/>
                  <a:cs typeface="DejaVu Sans" charset="0"/>
                </a:rPr>
                <a:t>Student 1:                  </a:t>
              </a:r>
              <a:endParaRPr lang="en-US" dirty="0">
                <a:cs typeface="Times New Roman"/>
              </a:endParaRPr>
            </a:p>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dirty="0">
                  <a:solidFill>
                    <a:srgbClr val="000000"/>
                  </a:solidFill>
                  <a:latin typeface="Times New Roman"/>
                  <a:ea typeface="DejaVu Sans" charset="0"/>
                  <a:cs typeface="DejaVu Sans" charset="0"/>
                </a:rPr>
                <a:t>Roll No:</a:t>
              </a:r>
              <a:endParaRPr lang="en-US" dirty="0"/>
            </a:p>
          </p:txBody>
        </p:sp>
        <p:pic>
          <p:nvPicPr>
            <p:cNvPr id="20" name="Picture 19">
              <a:extLst>
                <a:ext uri="{FF2B5EF4-FFF2-40B4-BE49-F238E27FC236}">
                  <a16:creationId xmlns:a16="http://schemas.microsoft.com/office/drawing/2014/main" id="{25517A0F-948C-6779-92F6-40D472EDC487}"/>
                </a:ext>
              </a:extLst>
            </p:cNvPr>
            <p:cNvPicPr>
              <a:picLocks noChangeAspect="1"/>
            </p:cNvPicPr>
            <p:nvPr/>
          </p:nvPicPr>
          <p:blipFill>
            <a:blip r:embed="rId3" cstate="print"/>
            <a:stretch>
              <a:fillRect/>
            </a:stretch>
          </p:blipFill>
          <p:spPr>
            <a:xfrm>
              <a:off x="1410188" y="2407043"/>
              <a:ext cx="1655340" cy="1503707"/>
            </a:xfrm>
            <a:prstGeom prst="rect">
              <a:avLst/>
            </a:prstGeom>
          </p:spPr>
        </p:pic>
      </p:grpSp>
      <p:grpSp>
        <p:nvGrpSpPr>
          <p:cNvPr id="23" name="Group 22">
            <a:extLst>
              <a:ext uri="{FF2B5EF4-FFF2-40B4-BE49-F238E27FC236}">
                <a16:creationId xmlns:a16="http://schemas.microsoft.com/office/drawing/2014/main" id="{700D4E22-7567-6CA8-2F8B-C28A355F9976}"/>
              </a:ext>
            </a:extLst>
          </p:cNvPr>
          <p:cNvGrpSpPr/>
          <p:nvPr/>
        </p:nvGrpSpPr>
        <p:grpSpPr>
          <a:xfrm>
            <a:off x="6596342" y="2496775"/>
            <a:ext cx="2795542" cy="2516101"/>
            <a:chOff x="978434" y="2407043"/>
            <a:chExt cx="2795542" cy="2516101"/>
          </a:xfrm>
        </p:grpSpPr>
        <p:sp>
          <p:nvSpPr>
            <p:cNvPr id="24" name="Text Box 2">
              <a:extLst>
                <a:ext uri="{FF2B5EF4-FFF2-40B4-BE49-F238E27FC236}">
                  <a16:creationId xmlns:a16="http://schemas.microsoft.com/office/drawing/2014/main" id="{1AEE8445-7A11-3B10-9EE5-749157E837D8}"/>
                </a:ext>
              </a:extLst>
            </p:cNvPr>
            <p:cNvSpPr txBox="1">
              <a:spLocks noChangeArrowheads="1"/>
            </p:cNvSpPr>
            <p:nvPr/>
          </p:nvSpPr>
          <p:spPr bwMode="auto">
            <a:xfrm>
              <a:off x="978434" y="3938418"/>
              <a:ext cx="2795542" cy="984726"/>
            </a:xfrm>
            <a:prstGeom prst="rect">
              <a:avLst/>
            </a:prstGeom>
            <a:noFill/>
            <a:ln w="9525" cap="flat">
              <a:noFill/>
              <a:round/>
              <a:headEnd/>
              <a:tailEnd/>
            </a:ln>
            <a:effectLst/>
          </p:spPr>
          <p:txBody>
            <a:bodyPr lIns="91440" tIns="45720" rIns="91440" bIns="45720" anchor="t"/>
            <a:lstStyle/>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dirty="0">
                  <a:solidFill>
                    <a:srgbClr val="000000"/>
                  </a:solidFill>
                  <a:latin typeface="Times New Roman"/>
                  <a:ea typeface="DejaVu Sans" charset="0"/>
                  <a:cs typeface="DejaVu Sans" charset="0"/>
                </a:rPr>
                <a:t>Student 1:                  </a:t>
              </a:r>
              <a:endParaRPr lang="en-US" dirty="0">
                <a:cs typeface="Times New Roman"/>
              </a:endParaRPr>
            </a:p>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dirty="0">
                  <a:solidFill>
                    <a:srgbClr val="000000"/>
                  </a:solidFill>
                  <a:latin typeface="Times New Roman"/>
                  <a:ea typeface="DejaVu Sans" charset="0"/>
                  <a:cs typeface="DejaVu Sans" charset="0"/>
                </a:rPr>
                <a:t>Roll No:</a:t>
              </a:r>
              <a:endParaRPr lang="en-US" dirty="0"/>
            </a:p>
          </p:txBody>
        </p:sp>
        <p:pic>
          <p:nvPicPr>
            <p:cNvPr id="25" name="Picture 24">
              <a:extLst>
                <a:ext uri="{FF2B5EF4-FFF2-40B4-BE49-F238E27FC236}">
                  <a16:creationId xmlns:a16="http://schemas.microsoft.com/office/drawing/2014/main" id="{0E955679-B4B6-10B1-D831-F580DB1B8DF6}"/>
                </a:ext>
              </a:extLst>
            </p:cNvPr>
            <p:cNvPicPr>
              <a:picLocks noChangeAspect="1"/>
            </p:cNvPicPr>
            <p:nvPr/>
          </p:nvPicPr>
          <p:blipFill>
            <a:blip r:embed="rId3" cstate="print"/>
            <a:stretch>
              <a:fillRect/>
            </a:stretch>
          </p:blipFill>
          <p:spPr>
            <a:xfrm>
              <a:off x="1410188" y="2407043"/>
              <a:ext cx="1655340" cy="1503707"/>
            </a:xfrm>
            <a:prstGeom prst="rect">
              <a:avLst/>
            </a:prstGeom>
          </p:spPr>
        </p:pic>
      </p:grpSp>
      <p:grpSp>
        <p:nvGrpSpPr>
          <p:cNvPr id="26" name="Group 25">
            <a:extLst>
              <a:ext uri="{FF2B5EF4-FFF2-40B4-BE49-F238E27FC236}">
                <a16:creationId xmlns:a16="http://schemas.microsoft.com/office/drawing/2014/main" id="{E188799F-0AB8-672E-CE89-00375C3F2CC1}"/>
              </a:ext>
            </a:extLst>
          </p:cNvPr>
          <p:cNvGrpSpPr/>
          <p:nvPr/>
        </p:nvGrpSpPr>
        <p:grpSpPr>
          <a:xfrm>
            <a:off x="8899870" y="2496775"/>
            <a:ext cx="2795542" cy="2516101"/>
            <a:chOff x="978434" y="2407043"/>
            <a:chExt cx="2795542" cy="2516101"/>
          </a:xfrm>
        </p:grpSpPr>
        <p:sp>
          <p:nvSpPr>
            <p:cNvPr id="27" name="Text Box 2">
              <a:extLst>
                <a:ext uri="{FF2B5EF4-FFF2-40B4-BE49-F238E27FC236}">
                  <a16:creationId xmlns:a16="http://schemas.microsoft.com/office/drawing/2014/main" id="{CE560293-F717-0370-170F-091AE5268600}"/>
                </a:ext>
              </a:extLst>
            </p:cNvPr>
            <p:cNvSpPr txBox="1">
              <a:spLocks noChangeArrowheads="1"/>
            </p:cNvSpPr>
            <p:nvPr/>
          </p:nvSpPr>
          <p:spPr bwMode="auto">
            <a:xfrm>
              <a:off x="978434" y="3938418"/>
              <a:ext cx="2795542" cy="984726"/>
            </a:xfrm>
            <a:prstGeom prst="rect">
              <a:avLst/>
            </a:prstGeom>
            <a:noFill/>
            <a:ln w="9525" cap="flat">
              <a:noFill/>
              <a:round/>
              <a:headEnd/>
              <a:tailEnd/>
            </a:ln>
            <a:effectLst/>
          </p:spPr>
          <p:txBody>
            <a:bodyPr lIns="91440" tIns="45720" rIns="91440" bIns="45720" anchor="t"/>
            <a:lstStyle/>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dirty="0">
                  <a:solidFill>
                    <a:srgbClr val="000000"/>
                  </a:solidFill>
                  <a:latin typeface="Times New Roman"/>
                  <a:ea typeface="DejaVu Sans" charset="0"/>
                  <a:cs typeface="DejaVu Sans" charset="0"/>
                </a:rPr>
                <a:t>Student 1: Laxmi Kanta Panda                 </a:t>
              </a:r>
              <a:endParaRPr lang="en-US" dirty="0">
                <a:cs typeface="Times New Roman"/>
              </a:endParaRPr>
            </a:p>
            <a:p>
              <a:pPr>
                <a:lnSpc>
                  <a:spcPct val="150000"/>
                </a:lnSpc>
                <a:spcBef>
                  <a:spcPts val="500"/>
                </a:spcBef>
                <a:buClr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dirty="0">
                  <a:solidFill>
                    <a:srgbClr val="000000"/>
                  </a:solidFill>
                  <a:latin typeface="Times New Roman"/>
                  <a:ea typeface="DejaVu Sans" charset="0"/>
                  <a:cs typeface="DejaVu Sans" charset="0"/>
                </a:rPr>
                <a:t>Roll No: 2301332012</a:t>
              </a:r>
              <a:endParaRPr lang="en-US" dirty="0"/>
            </a:p>
          </p:txBody>
        </p:sp>
        <p:pic>
          <p:nvPicPr>
            <p:cNvPr id="28" name="Picture 27">
              <a:extLst>
                <a:ext uri="{FF2B5EF4-FFF2-40B4-BE49-F238E27FC236}">
                  <a16:creationId xmlns:a16="http://schemas.microsoft.com/office/drawing/2014/main" id="{E01FBC8F-6502-1F80-A6B4-EC3EFB9728A9}"/>
                </a:ext>
              </a:extLst>
            </p:cNvPr>
            <p:cNvPicPr>
              <a:picLocks noChangeAspect="1"/>
            </p:cNvPicPr>
            <p:nvPr/>
          </p:nvPicPr>
          <p:blipFill>
            <a:blip r:embed="rId3" cstate="print"/>
            <a:stretch>
              <a:fillRect/>
            </a:stretch>
          </p:blipFill>
          <p:spPr>
            <a:xfrm>
              <a:off x="1410188" y="2407043"/>
              <a:ext cx="1655340" cy="1503707"/>
            </a:xfrm>
            <a:prstGeom prst="rect">
              <a:avLst/>
            </a:prstGeom>
          </p:spPr>
        </p:pic>
      </p:grpSp>
      <p:cxnSp>
        <p:nvCxnSpPr>
          <p:cNvPr id="29" name="Straight Connector 28">
            <a:extLst>
              <a:ext uri="{FF2B5EF4-FFF2-40B4-BE49-F238E27FC236}">
                <a16:creationId xmlns:a16="http://schemas.microsoft.com/office/drawing/2014/main" id="{D6EEEF6A-F38E-5F48-3EC3-AC235B2B2328}"/>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24095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99F0C1A5-68F5-95AE-5F1A-0AA949ADC512}"/>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1A0CE194-41A4-5B77-0DDB-D169F9E0C3E4}"/>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53DEF008-94A4-0CC9-E4DC-1AB024DFDC1D}"/>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8" name="Picture 4" descr="Thought of our leaders">
            <a:extLst>
              <a:ext uri="{FF2B5EF4-FFF2-40B4-BE49-F238E27FC236}">
                <a16:creationId xmlns:a16="http://schemas.microsoft.com/office/drawing/2014/main" id="{5954FF89-8257-9BDC-0F56-F874FBE14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EA42340E-8F3F-2CFB-3B82-068DB24D75F7}"/>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25" name="Title 5">
            <a:extLst>
              <a:ext uri="{FF2B5EF4-FFF2-40B4-BE49-F238E27FC236}">
                <a16:creationId xmlns:a16="http://schemas.microsoft.com/office/drawing/2014/main" id="{B99CA8BA-CEFB-F0BD-E5A7-4ACC4208EBBE}"/>
              </a:ext>
            </a:extLst>
          </p:cNvPr>
          <p:cNvSpPr txBox="1">
            <a:spLocks/>
          </p:cNvSpPr>
          <p:nvPr/>
        </p:nvSpPr>
        <p:spPr>
          <a:xfrm>
            <a:off x="943292" y="1153262"/>
            <a:ext cx="3352800"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9600" b="1" dirty="0">
                <a:solidFill>
                  <a:srgbClr val="7030A0"/>
                </a:solidFill>
                <a:latin typeface="+mn-lt"/>
                <a:ea typeface="Calibri" panose="020F0502020204030204" pitchFamily="34" charset="0"/>
                <a:cs typeface="Calibri" panose="020F0502020204030204" pitchFamily="34" charset="0"/>
              </a:rPr>
              <a:t>CONTENTS</a:t>
            </a: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24" name="TextBox 23">
            <a:extLst>
              <a:ext uri="{FF2B5EF4-FFF2-40B4-BE49-F238E27FC236}">
                <a16:creationId xmlns:a16="http://schemas.microsoft.com/office/drawing/2014/main" id="{373BD0C3-FE65-9E65-0B5D-4569BA56AC49}"/>
              </a:ext>
            </a:extLst>
          </p:cNvPr>
          <p:cNvSpPr txBox="1"/>
          <p:nvPr/>
        </p:nvSpPr>
        <p:spPr>
          <a:xfrm>
            <a:off x="943292" y="843677"/>
            <a:ext cx="9468810" cy="5170646"/>
          </a:xfrm>
          <a:prstGeom prst="rect">
            <a:avLst/>
          </a:prstGeom>
          <a:noFill/>
        </p:spPr>
        <p:txBody>
          <a:bodyPr wrap="square" rtlCol="0">
            <a:spAutoFit/>
          </a:bodyPr>
          <a:lstStyle/>
          <a:p>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Introduction</a:t>
            </a:r>
          </a:p>
          <a:p>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Objective</a:t>
            </a:r>
          </a:p>
          <a:p>
            <a:pPr marL="342900" indent="-342900">
              <a:buFont typeface="Wingdings" panose="05000000000000000000" pitchFamily="2" charset="2"/>
              <a:buChar char="q"/>
            </a:pPr>
            <a:endParaRPr lang="en-IN" sz="2200" dirty="0">
              <a:solidFill>
                <a:schemeClr val="tx1">
                  <a:lumMod val="95000"/>
                  <a:lumOff val="5000"/>
                </a:schemeClr>
              </a:solidFill>
            </a:endParaRPr>
          </a:p>
          <a:p>
            <a:pPr marL="342900" indent="-342900">
              <a:buFont typeface="Wingdings" panose="05000000000000000000" pitchFamily="2" charset="2"/>
              <a:buChar char="q"/>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P</a:t>
            </a:r>
            <a:r>
              <a:rPr lang="en-IN" sz="2200" dirty="0" err="1">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roblem</a:t>
            </a:r>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statement</a:t>
            </a:r>
          </a:p>
          <a:p>
            <a:pPr marL="342900" indent="-342900">
              <a:buFont typeface="Wingdings" panose="05000000000000000000" pitchFamily="2" charset="2"/>
              <a:buChar char="q"/>
            </a:pP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M</a:t>
            </a:r>
            <a:r>
              <a:rPr lang="en-IN" sz="2200" dirty="0" err="1">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ethodology</a:t>
            </a: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Algorithm</a:t>
            </a: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Results till date</a:t>
            </a:r>
          </a:p>
          <a:p>
            <a:endParaRPr lang="en-IN" sz="2200" dirty="0">
              <a:solidFill>
                <a:schemeClr val="tx1">
                  <a:lumMod val="95000"/>
                  <a:lumOff val="5000"/>
                </a:schemeClr>
              </a:solidFill>
            </a:endParaRPr>
          </a:p>
          <a:p>
            <a:pPr marL="342900" indent="-342900">
              <a:buFont typeface="Wingdings" panose="05000000000000000000" pitchFamily="2" charset="2"/>
              <a:buChar char="q"/>
            </a:pPr>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Reference</a:t>
            </a:r>
          </a:p>
        </p:txBody>
      </p:sp>
      <p:sp>
        <p:nvSpPr>
          <p:cNvPr id="7" name="Text Placeholder 4">
            <a:extLst>
              <a:ext uri="{FF2B5EF4-FFF2-40B4-BE49-F238E27FC236}">
                <a16:creationId xmlns:a16="http://schemas.microsoft.com/office/drawing/2014/main" id="{EEB84024-6204-A4BF-BFD8-74D08A656BE2}"/>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27" name="TextBox 26">
            <a:extLst>
              <a:ext uri="{FF2B5EF4-FFF2-40B4-BE49-F238E27FC236}">
                <a16:creationId xmlns:a16="http://schemas.microsoft.com/office/drawing/2014/main" id="{DD3342D3-F929-508F-ADDC-1C0461C0BFA8}"/>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Tree>
    <p:extLst>
      <p:ext uri="{BB962C8B-B14F-4D97-AF65-F5344CB8AC3E}">
        <p14:creationId xmlns:p14="http://schemas.microsoft.com/office/powerpoint/2010/main" val="710211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6441A020-A2F0-7339-FB8A-668C7C8F74E1}"/>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33DB04F7-4228-E180-3FE8-4438D811A1CC}"/>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EE8AD3BE-2B03-0D05-125C-A6596A98E75E}"/>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C6DE7AA3-5497-28A6-2247-B9A0B5E08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18DC7038-A517-DE1C-3E29-2AF0505101C7}"/>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855FB46A-C29D-79CA-D5A8-A09D2AE4F466}"/>
              </a:ext>
            </a:extLst>
          </p:cNvPr>
          <p:cNvSpPr txBox="1">
            <a:spLocks/>
          </p:cNvSpPr>
          <p:nvPr/>
        </p:nvSpPr>
        <p:spPr>
          <a:xfrm>
            <a:off x="943292" y="1219762"/>
            <a:ext cx="3352800"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INTRODUCTION</a:t>
            </a: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 Placeholder 4">
            <a:extLst>
              <a:ext uri="{FF2B5EF4-FFF2-40B4-BE49-F238E27FC236}">
                <a16:creationId xmlns:a16="http://schemas.microsoft.com/office/drawing/2014/main" id="{315E1026-9ACA-F5BB-3009-E08C80FC62BA}"/>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2" name="TextBox 11">
            <a:extLst>
              <a:ext uri="{FF2B5EF4-FFF2-40B4-BE49-F238E27FC236}">
                <a16:creationId xmlns:a16="http://schemas.microsoft.com/office/drawing/2014/main" id="{E09F4DA4-2906-E77C-71F1-D8F8BD363B92}"/>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3" name="TextBox 12">
            <a:extLst>
              <a:ext uri="{FF2B5EF4-FFF2-40B4-BE49-F238E27FC236}">
                <a16:creationId xmlns:a16="http://schemas.microsoft.com/office/drawing/2014/main" id="{78CD131C-25A6-2F07-4DCD-210101E11BF6}"/>
              </a:ext>
            </a:extLst>
          </p:cNvPr>
          <p:cNvSpPr txBox="1"/>
          <p:nvPr/>
        </p:nvSpPr>
        <p:spPr>
          <a:xfrm>
            <a:off x="823423" y="1476043"/>
            <a:ext cx="7660917" cy="4370427"/>
          </a:xfrm>
          <a:prstGeom prst="rect">
            <a:avLst/>
          </a:prstGeom>
          <a:noFill/>
        </p:spPr>
        <p:txBody>
          <a:bodyPr wrap="square" rtlCol="0">
            <a:spAutoFit/>
          </a:bodyPr>
          <a:lstStyle/>
          <a:p>
            <a:endPar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q"/>
            </a:pPr>
            <a:endPar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en-US" sz="2200" dirty="0">
                <a:solidFill>
                  <a:schemeClr val="tx1">
                    <a:lumMod val="95000"/>
                    <a:lumOff val="5000"/>
                  </a:schemeClr>
                </a:solidFill>
              </a:rPr>
              <a:t>Smart diabetes prediction and management systems leverage machine learning algorithms to analyze patients' health data and provide personalized recommendations. Patients input data like blood glucose levels, skin thickness, age, blood pressure, Blood pressure , Insulin level and other relevant health metrics. The system processes this data to assess the likelihood of diabetes or complications. Based on risk levels, it provides immediate guidance on whether to consult a doctor. By automating routine monitoring, these systems help individuals manage their condition proactively, reducing complications and supporting timely medical intervention</a:t>
            </a:r>
            <a:r>
              <a:rPr lang="en-US" dirty="0">
                <a:solidFill>
                  <a:schemeClr val="tx1">
                    <a:lumMod val="95000"/>
                    <a:lumOff val="5000"/>
                  </a:schemeClr>
                </a:solidFill>
              </a:rPr>
              <a:t>.</a:t>
            </a:r>
            <a:endPar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a:extLst>
              <a:ext uri="{FF2B5EF4-FFF2-40B4-BE49-F238E27FC236}">
                <a16:creationId xmlns:a16="http://schemas.microsoft.com/office/drawing/2014/main" id="{D66402B2-0473-3E82-F0D2-FF5AA0A54F8D}"/>
              </a:ext>
            </a:extLst>
          </p:cNvPr>
          <p:cNvPicPr>
            <a:picLocks noChangeAspect="1"/>
          </p:cNvPicPr>
          <p:nvPr/>
        </p:nvPicPr>
        <p:blipFill>
          <a:blip r:embed="rId3"/>
          <a:stretch>
            <a:fillRect/>
          </a:stretch>
        </p:blipFill>
        <p:spPr>
          <a:xfrm>
            <a:off x="8495887" y="1649183"/>
            <a:ext cx="3646237" cy="3269802"/>
          </a:xfrm>
          <a:prstGeom prst="rect">
            <a:avLst/>
          </a:prstGeom>
        </p:spPr>
      </p:pic>
    </p:spTree>
    <p:extLst>
      <p:ext uri="{BB962C8B-B14F-4D97-AF65-F5344CB8AC3E}">
        <p14:creationId xmlns:p14="http://schemas.microsoft.com/office/powerpoint/2010/main" val="111148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E501CAAE-0018-94CA-A8AE-8FBF28C1841A}"/>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B2B04A12-3470-8556-B824-3E844C40A4FF}"/>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20E14C6C-6B1C-00AF-6B62-40DDA3002025}"/>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217C1779-F255-7713-0703-30A7E9A8B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CE9307A0-D70B-3648-40A3-04C934BDABE7}"/>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CFB0EF5D-D336-9E12-3536-D480A12CEE58}"/>
              </a:ext>
            </a:extLst>
          </p:cNvPr>
          <p:cNvSpPr txBox="1">
            <a:spLocks/>
          </p:cNvSpPr>
          <p:nvPr/>
        </p:nvSpPr>
        <p:spPr>
          <a:xfrm>
            <a:off x="943292" y="1219762"/>
            <a:ext cx="3352800"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OBJECTIVE</a:t>
            </a: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7AE8135E-F2A9-55C8-2E53-87BE9B758BE7}"/>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122D4CD1-AB00-BBDA-499B-2EC94DAFF5A6}"/>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4" name="Content Placeholder 4">
            <a:extLst>
              <a:ext uri="{FF2B5EF4-FFF2-40B4-BE49-F238E27FC236}">
                <a16:creationId xmlns:a16="http://schemas.microsoft.com/office/drawing/2014/main" id="{C90AD391-8EEB-FA76-8946-2267FB91555B}"/>
              </a:ext>
            </a:extLst>
          </p:cNvPr>
          <p:cNvSpPr txBox="1">
            <a:spLocks/>
          </p:cNvSpPr>
          <p:nvPr/>
        </p:nvSpPr>
        <p:spPr>
          <a:xfrm rot="10800000" flipV="1">
            <a:off x="737959" y="1378524"/>
            <a:ext cx="7648957" cy="4898923"/>
          </a:xfrm>
          <a:prstGeom prst="rect">
            <a:avLst/>
          </a:prstGeom>
        </p:spPr>
        <p:txBody>
          <a:bodyPr/>
          <a:lstStyle>
            <a:defPPr marR="0" lvl="0" algn="l" rtl="0">
              <a:lnSpc>
                <a:spcPct val="100000"/>
              </a:lnSpc>
              <a:spcBef>
                <a:spcPts val="0"/>
              </a:spcBef>
              <a:spcAft>
                <a:spcPts val="0"/>
              </a:spcAft>
            </a:defPPr>
            <a:lvl1pPr marL="519113" indent="-519113" algn="l" rtl="0" eaLnBrk="0" fontAlgn="base" hangingPunct="0">
              <a:lnSpc>
                <a:spcPct val="120000"/>
              </a:lnSpc>
              <a:spcBef>
                <a:spcPct val="0"/>
              </a:spcBef>
              <a:spcAft>
                <a:spcPct val="0"/>
              </a:spcAft>
              <a:buClr>
                <a:srgbClr val="000000"/>
              </a:buClr>
              <a:buFont typeface="Wingdings" pitchFamily="2" charset="2"/>
              <a:buChar char="q"/>
              <a:defRPr sz="2600">
                <a:solidFill>
                  <a:srgbClr val="000000"/>
                </a:solidFill>
                <a:latin typeface="Arial"/>
                <a:ea typeface="Arial"/>
                <a:cs typeface="Arial"/>
                <a:sym typeface="Arial" pitchFamily="34" charset="0"/>
              </a:defRPr>
            </a:lvl1pPr>
            <a:lvl2pPr marL="1146175" lvl="1" indent="450850" algn="l" rtl="0" eaLnBrk="0" fontAlgn="base" hangingPunct="0">
              <a:lnSpc>
                <a:spcPct val="120000"/>
              </a:lnSpc>
              <a:spcBef>
                <a:spcPct val="0"/>
              </a:spcBef>
              <a:spcAft>
                <a:spcPct val="0"/>
              </a:spcAft>
              <a:buClr>
                <a:srgbClr val="000000"/>
              </a:buClr>
              <a:buFont typeface="Wingdings" pitchFamily="2" charset="2"/>
              <a:buChar char="v"/>
              <a:defRPr sz="2400">
                <a:solidFill>
                  <a:srgbClr val="000000"/>
                </a:solidFill>
                <a:latin typeface="Arial"/>
                <a:ea typeface="Arial"/>
                <a:cs typeface="Arial"/>
                <a:sym typeface="Arial" pitchFamily="34" charset="0"/>
              </a:defRPr>
            </a:lvl2pPr>
            <a:lvl3pPr marL="2116138" lvl="2" indent="-287338" algn="l" rtl="0" eaLnBrk="0" fontAlgn="base" hangingPunct="0">
              <a:lnSpc>
                <a:spcPct val="120000"/>
              </a:lnSpc>
              <a:spcBef>
                <a:spcPct val="0"/>
              </a:spcBef>
              <a:spcAft>
                <a:spcPct val="0"/>
              </a:spcAft>
              <a:buClr>
                <a:srgbClr val="000000"/>
              </a:buClr>
              <a:buFont typeface="Arial" pitchFamily="34" charset="0"/>
              <a:buChar char="•"/>
              <a:defRPr sz="2400">
                <a:solidFill>
                  <a:srgbClr val="000000"/>
                </a:solidFill>
                <a:latin typeface="Arial"/>
                <a:ea typeface="Arial"/>
                <a:cs typeface="Arial"/>
                <a:sym typeface="Arial" pitchFamily="34" charset="0"/>
              </a:defRPr>
            </a:lvl3pPr>
            <a:lvl4pPr marL="1600200" lvl="3" indent="-228600" algn="l" rtl="0" eaLnBrk="0" fontAlgn="base" hangingPunct="0">
              <a:lnSpc>
                <a:spcPct val="120000"/>
              </a:lnSpc>
              <a:spcBef>
                <a:spcPct val="0"/>
              </a:spcBef>
              <a:spcAft>
                <a:spcPct val="0"/>
              </a:spcAft>
              <a:buClr>
                <a:srgbClr val="000000"/>
              </a:buClr>
              <a:buFont typeface="Arial" pitchFamily="34" charset="0"/>
              <a:buChar char="–"/>
              <a:defRPr sz="2400">
                <a:solidFill>
                  <a:srgbClr val="000000"/>
                </a:solidFill>
                <a:latin typeface="Arial"/>
                <a:ea typeface="Arial"/>
                <a:cs typeface="Arial"/>
                <a:sym typeface="Arial" pitchFamily="34" charset="0"/>
              </a:defRPr>
            </a:lvl4pPr>
            <a:lvl5pPr marL="2057400" lvl="4" indent="-228600" algn="l" rtl="0" eaLnBrk="0" fontAlgn="base" hangingPunct="0">
              <a:lnSpc>
                <a:spcPct val="120000"/>
              </a:lnSpc>
              <a:spcBef>
                <a:spcPct val="0"/>
              </a:spcBef>
              <a:spcAft>
                <a:spcPct val="0"/>
              </a:spcAft>
              <a:buClr>
                <a:srgbClr val="000000"/>
              </a:buClr>
              <a:buFont typeface="Arial" pitchFamily="34" charset="0"/>
              <a:buChar char="»"/>
              <a:defRPr sz="2400">
                <a:solidFill>
                  <a:srgbClr val="000000"/>
                </a:solidFill>
                <a:latin typeface="Arial"/>
                <a:ea typeface="Arial"/>
                <a:cs typeface="Arial"/>
                <a:sym typeface="Arial" pitchFamily="34" charset="0"/>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400">
              <a:buSzTx/>
            </a:pPr>
            <a:r>
              <a:rPr lang="en-US" sz="2400" b="1" kern="0" dirty="0">
                <a:latin typeface="Calibri" panose="020F0502020204030204" pitchFamily="34" charset="0"/>
                <a:ea typeface="Calibri" panose="020F0502020204030204" pitchFamily="34" charset="0"/>
                <a:cs typeface="Calibri" panose="020F0502020204030204" pitchFamily="34" charset="0"/>
              </a:rPr>
              <a:t>This project uses smart technology to predict who might get diabetes by analyzing health data.</a:t>
            </a: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r>
              <a:rPr lang="en-US" sz="2400" b="1" kern="0" dirty="0">
                <a:latin typeface="Calibri" panose="020F0502020204030204" pitchFamily="34" charset="0"/>
                <a:ea typeface="Calibri" panose="020F0502020204030204" pitchFamily="34" charset="0"/>
                <a:cs typeface="Calibri" panose="020F0502020204030204" pitchFamily="34" charset="0"/>
              </a:rPr>
              <a:t>By spotting those at high risk early, the system helps doctors and patients take action sooner and provide care that's tailored to each person</a:t>
            </a:r>
          </a:p>
          <a:p>
            <a:pPr marL="0" indent="0" defTabSz="914400">
              <a:buSzTx/>
              <a:buNone/>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a:p>
            <a:pPr defTabSz="914400">
              <a:buSzTx/>
            </a:pPr>
            <a:endParaRPr lang="en-US" sz="2400" b="1" kern="0" dirty="0">
              <a:latin typeface="Calibri" panose="020F0502020204030204" pitchFamily="34" charset="0"/>
              <a:ea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4FA77B12-863A-9525-39BB-8A142B49269A}"/>
              </a:ext>
            </a:extLst>
          </p:cNvPr>
          <p:cNvPicPr>
            <a:picLocks noChangeAspect="1"/>
          </p:cNvPicPr>
          <p:nvPr/>
        </p:nvPicPr>
        <p:blipFill>
          <a:blip r:embed="rId3" cstate="print">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8147767" y="1309528"/>
            <a:ext cx="3906036" cy="3906036"/>
          </a:xfrm>
          <a:prstGeom prst="rect">
            <a:avLst/>
          </a:prstGeom>
        </p:spPr>
      </p:pic>
    </p:spTree>
    <p:extLst>
      <p:ext uri="{BB962C8B-B14F-4D97-AF65-F5344CB8AC3E}">
        <p14:creationId xmlns:p14="http://schemas.microsoft.com/office/powerpoint/2010/main" val="3025336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F089F3A2-BF7B-B701-D6D8-2B41D9802998}"/>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338D6FA4-CB5B-A427-C957-32253FD6D481}"/>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B6395C7A-F4A9-99B9-6F0F-F47222F32F11}"/>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D880F505-0BBD-335D-D5D6-630C27C03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A272D878-D123-ED40-21EF-3D4E80779DF3}"/>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2B6C2C1A-BDEF-4F45-05D6-BC99B60553EE}"/>
              </a:ext>
            </a:extLst>
          </p:cNvPr>
          <p:cNvSpPr txBox="1">
            <a:spLocks/>
          </p:cNvSpPr>
          <p:nvPr/>
        </p:nvSpPr>
        <p:spPr>
          <a:xfrm>
            <a:off x="943292" y="1219762"/>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PROBLEM STATEMENT</a:t>
            </a: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br>
              <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rPr>
            </a:b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A8B2A397-3D0D-019B-407F-7EFF893E0350}"/>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37C6BC8E-3357-0400-6AA4-540C902A0FCD}"/>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4" name="TextBox 13">
            <a:extLst>
              <a:ext uri="{FF2B5EF4-FFF2-40B4-BE49-F238E27FC236}">
                <a16:creationId xmlns:a16="http://schemas.microsoft.com/office/drawing/2014/main" id="{623C6A9E-0170-45A5-E98E-B594D2B6ED86}"/>
              </a:ext>
            </a:extLst>
          </p:cNvPr>
          <p:cNvSpPr txBox="1"/>
          <p:nvPr/>
        </p:nvSpPr>
        <p:spPr>
          <a:xfrm>
            <a:off x="846816" y="1622351"/>
            <a:ext cx="10495192" cy="3613297"/>
          </a:xfrm>
          <a:prstGeom prst="rect">
            <a:avLst/>
          </a:prstGeom>
          <a:noFill/>
        </p:spPr>
        <p:txBody>
          <a:bodyPr wrap="square" rtlCol="0">
            <a:spAutoFit/>
          </a:bodyPr>
          <a:lstStyle/>
          <a:p>
            <a:pPr marL="519113" lvl="0" indent="-519113" defTabSz="914400">
              <a:lnSpc>
                <a:spcPct val="120000"/>
              </a:lnSpc>
              <a:buSzTx/>
              <a:buFont typeface="Wingdings" pitchFamily="2" charset="2"/>
              <a:buChar char="q"/>
            </a:pPr>
            <a:r>
              <a:rPr lang="en-US" sz="2200" kern="0" dirty="0">
                <a:solidFill>
                  <a:srgbClr val="000000"/>
                </a:solidFill>
                <a:latin typeface="Arial"/>
                <a:cs typeface="Arial"/>
                <a:sym typeface="Arial" pitchFamily="34" charset="0"/>
              </a:rPr>
              <a:t>Create a smart system that can predict the risk of diabetes and help manage it better. The goal is to use data to give personalized advice and improve health outcomes.</a:t>
            </a:r>
          </a:p>
          <a:p>
            <a:pPr lvl="0" defTabSz="914400">
              <a:lnSpc>
                <a:spcPct val="120000"/>
              </a:lnSpc>
              <a:buSzTx/>
            </a:pPr>
            <a:endParaRPr lang="en-US" sz="2200" kern="0" dirty="0">
              <a:solidFill>
                <a:srgbClr val="000000"/>
              </a:solidFill>
              <a:latin typeface="Arial"/>
              <a:cs typeface="Arial"/>
              <a:sym typeface="Arial" pitchFamily="34" charset="0"/>
            </a:endParaRPr>
          </a:p>
          <a:p>
            <a:pPr lvl="0" defTabSz="914400">
              <a:lnSpc>
                <a:spcPct val="120000"/>
              </a:lnSpc>
              <a:buSzTx/>
            </a:pPr>
            <a:endParaRPr lang="en-US" sz="2200" kern="0" dirty="0">
              <a:solidFill>
                <a:srgbClr val="000000"/>
              </a:solidFill>
              <a:latin typeface="Arial"/>
              <a:cs typeface="Arial"/>
              <a:sym typeface="Arial" pitchFamily="34" charset="0"/>
            </a:endParaRPr>
          </a:p>
          <a:p>
            <a:pPr marL="519113" lvl="0" indent="-519113" defTabSz="914400">
              <a:lnSpc>
                <a:spcPct val="120000"/>
              </a:lnSpc>
              <a:buSzTx/>
              <a:buFont typeface="Wingdings" pitchFamily="2" charset="2"/>
              <a:buChar char="q"/>
            </a:pPr>
            <a:r>
              <a:rPr lang="en-US" sz="2200" kern="0" dirty="0">
                <a:solidFill>
                  <a:srgbClr val="000000"/>
                </a:solidFill>
                <a:latin typeface="Arial"/>
                <a:cs typeface="Arial"/>
                <a:sym typeface="Arial" pitchFamily="34" charset="0"/>
              </a:rPr>
              <a:t>Develop an intelligent system to predict and manage diabetes effectively through data-driven insights and personalized recommendations.</a:t>
            </a:r>
          </a:p>
          <a:p>
            <a:endParaRPr lang="en-IN" sz="2200" b="0" i="0" u="none" strike="noStrike" dirty="0">
              <a:solidFill>
                <a:schemeClr val="tx1">
                  <a:lumMod val="95000"/>
                  <a:lumOff val="5000"/>
                </a:schemeClr>
              </a:solidFill>
              <a:effectLst/>
              <a:highlight>
                <a:srgbClr val="FFFFFF"/>
              </a:highlight>
              <a:latin typeface="Open Sans" panose="020F0502020204030204" pitchFamily="34" charset="0"/>
            </a:endParaRPr>
          </a:p>
          <a:p>
            <a:pPr marL="285750" indent="-285750">
              <a:buFont typeface="Wingdings" panose="05000000000000000000" pitchFamily="2" charset="2"/>
              <a:buChar char="q"/>
            </a:pPr>
            <a:endParaRPr lang="en-IN" sz="2200"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41035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12DE2AF2-6AD9-9B6F-7B3E-696819D79058}"/>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EAE54230-9500-95F3-EC4E-EFE5968ACAA7}"/>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EDB7DE50-A159-F6F3-648E-0D7BE2BD4C90}"/>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07EFBDD8-E2C3-6942-34FA-15BB9A72B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E7A20166-B105-9A8B-41DE-2B555EE45BFD}"/>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C45D6C4B-5878-E645-8D29-DFB15140D64B}"/>
              </a:ext>
            </a:extLst>
          </p:cNvPr>
          <p:cNvSpPr txBox="1">
            <a:spLocks/>
          </p:cNvSpPr>
          <p:nvPr/>
        </p:nvSpPr>
        <p:spPr>
          <a:xfrm>
            <a:off x="943292" y="727396"/>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METHODOLOGY</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AF64567D-C0AD-3AD7-7F60-AAA4C00CA2C5}"/>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EE1CBA80-390D-9C0D-3C8B-E89F3F69BFB1}"/>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3" name="Content Placeholder 2">
            <a:extLst>
              <a:ext uri="{FF2B5EF4-FFF2-40B4-BE49-F238E27FC236}">
                <a16:creationId xmlns:a16="http://schemas.microsoft.com/office/drawing/2014/main" id="{6A541880-07F7-0571-72AC-ECB061963F81}"/>
              </a:ext>
            </a:extLst>
          </p:cNvPr>
          <p:cNvSpPr txBox="1">
            <a:spLocks/>
          </p:cNvSpPr>
          <p:nvPr/>
        </p:nvSpPr>
        <p:spPr>
          <a:xfrm>
            <a:off x="830751" y="1187957"/>
            <a:ext cx="11212846" cy="525445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n-IN" sz="2200" b="1" dirty="0">
                <a:solidFill>
                  <a:schemeClr val="tx1"/>
                </a:solidFill>
              </a:rPr>
              <a:t>Data Collection </a:t>
            </a:r>
            <a:r>
              <a:rPr lang="en-IN" sz="2200" dirty="0">
                <a:solidFill>
                  <a:schemeClr val="tx1"/>
                </a:solidFill>
              </a:rPr>
              <a:t>:</a:t>
            </a:r>
            <a:r>
              <a:rPr lang="en-US" sz="2200" dirty="0">
                <a:solidFill>
                  <a:schemeClr val="tx1"/>
                </a:solidFill>
              </a:rPr>
              <a:t>Gather relevant data from patients, including blood sugar levels, weight, diet, exercise habits, and medical history.</a:t>
            </a:r>
          </a:p>
          <a:p>
            <a:pPr algn="just"/>
            <a:r>
              <a:rPr lang="en-IN" sz="2200" b="1" dirty="0">
                <a:solidFill>
                  <a:schemeClr val="tx1"/>
                </a:solidFill>
              </a:rPr>
              <a:t>Data Preprocessing</a:t>
            </a:r>
            <a:r>
              <a:rPr lang="en-IN" sz="2200" dirty="0">
                <a:solidFill>
                  <a:schemeClr val="tx1"/>
                </a:solidFill>
              </a:rPr>
              <a:t>: </a:t>
            </a:r>
            <a:r>
              <a:rPr lang="en-US" sz="2200" dirty="0">
                <a:solidFill>
                  <a:schemeClr val="tx1"/>
                </a:solidFill>
              </a:rPr>
              <a:t>Clean and organize the data, handling missing values and outliers.</a:t>
            </a:r>
          </a:p>
          <a:p>
            <a:pPr algn="just"/>
            <a:r>
              <a:rPr lang="en-IN" sz="2200" b="1" dirty="0">
                <a:solidFill>
                  <a:schemeClr val="tx1"/>
                </a:solidFill>
              </a:rPr>
              <a:t>Feature Engineering</a:t>
            </a:r>
            <a:r>
              <a:rPr lang="en-IN" sz="2200" dirty="0">
                <a:solidFill>
                  <a:schemeClr val="tx1"/>
                </a:solidFill>
              </a:rPr>
              <a:t>: </a:t>
            </a:r>
            <a:r>
              <a:rPr lang="en-US" sz="2200" dirty="0">
                <a:solidFill>
                  <a:schemeClr val="tx1"/>
                </a:solidFill>
              </a:rPr>
              <a:t>Create new features or transform existing ones to improve model performance.</a:t>
            </a:r>
          </a:p>
          <a:p>
            <a:pPr algn="just"/>
            <a:r>
              <a:rPr lang="en-IN" sz="2200" b="1" dirty="0">
                <a:solidFill>
                  <a:schemeClr val="tx1"/>
                </a:solidFill>
              </a:rPr>
              <a:t>Model Selection</a:t>
            </a:r>
            <a:r>
              <a:rPr lang="en-IN" sz="2200" dirty="0">
                <a:solidFill>
                  <a:schemeClr val="tx1"/>
                </a:solidFill>
              </a:rPr>
              <a:t>:</a:t>
            </a:r>
            <a:r>
              <a:rPr lang="en-US" sz="2200" dirty="0">
                <a:solidFill>
                  <a:schemeClr val="tx1"/>
                </a:solidFill>
              </a:rPr>
              <a:t>Choose appropriate machine learning algorithms (e.g., random forest, neural networks) for prediction and management.</a:t>
            </a:r>
          </a:p>
          <a:p>
            <a:pPr algn="just"/>
            <a:r>
              <a:rPr lang="en-IN" sz="2200" b="1" dirty="0">
                <a:solidFill>
                  <a:schemeClr val="tx1"/>
                </a:solidFill>
              </a:rPr>
              <a:t>Model Training</a:t>
            </a:r>
            <a:r>
              <a:rPr lang="en-IN" sz="2200" dirty="0">
                <a:solidFill>
                  <a:schemeClr val="tx1"/>
                </a:solidFill>
              </a:rPr>
              <a:t>: </a:t>
            </a:r>
            <a:r>
              <a:rPr lang="en-US" sz="2200" dirty="0">
                <a:solidFill>
                  <a:schemeClr val="tx1"/>
                </a:solidFill>
              </a:rPr>
              <a:t>Train the selected models using the prepared data.</a:t>
            </a:r>
          </a:p>
          <a:p>
            <a:pPr algn="just"/>
            <a:r>
              <a:rPr lang="en-IN" sz="2200" b="1" dirty="0">
                <a:solidFill>
                  <a:schemeClr val="tx1"/>
                </a:solidFill>
              </a:rPr>
              <a:t>Model Evaluation</a:t>
            </a:r>
            <a:r>
              <a:rPr lang="en-IN" sz="2200" dirty="0">
                <a:solidFill>
                  <a:schemeClr val="tx1"/>
                </a:solidFill>
              </a:rPr>
              <a:t>:</a:t>
            </a:r>
            <a:r>
              <a:rPr lang="en-US" sz="2200" dirty="0">
                <a:solidFill>
                  <a:schemeClr val="tx1"/>
                </a:solidFill>
              </a:rPr>
              <a:t> Assess the model's accuracy, precision, recall, and F1-score to ensure its reliability.</a:t>
            </a:r>
          </a:p>
          <a:p>
            <a:pPr algn="just"/>
            <a:r>
              <a:rPr lang="en-IN" sz="2200" b="1" dirty="0">
                <a:solidFill>
                  <a:schemeClr val="tx1"/>
                </a:solidFill>
              </a:rPr>
              <a:t>Prediction</a:t>
            </a:r>
            <a:r>
              <a:rPr lang="en-IN" sz="2200" dirty="0">
                <a:solidFill>
                  <a:schemeClr val="tx1"/>
                </a:solidFill>
              </a:rPr>
              <a:t>:</a:t>
            </a:r>
            <a:r>
              <a:rPr lang="en-US" sz="2200" dirty="0">
                <a:solidFill>
                  <a:schemeClr val="tx1"/>
                </a:solidFill>
              </a:rPr>
              <a:t> Use the trained model to predict future blood sugar levels or the risk of diabetes-related complications.</a:t>
            </a:r>
          </a:p>
          <a:p>
            <a:pPr algn="just"/>
            <a:r>
              <a:rPr lang="en-IN" sz="2200" b="1" dirty="0">
                <a:solidFill>
                  <a:schemeClr val="tx1"/>
                </a:solidFill>
              </a:rPr>
              <a:t>Management</a:t>
            </a:r>
            <a:r>
              <a:rPr lang="en-IN" sz="2200" dirty="0">
                <a:solidFill>
                  <a:schemeClr val="tx1"/>
                </a:solidFill>
              </a:rPr>
              <a:t> : </a:t>
            </a:r>
            <a:r>
              <a:rPr lang="en-US" sz="2200" dirty="0">
                <a:solidFill>
                  <a:schemeClr val="tx1"/>
                </a:solidFill>
              </a:rPr>
              <a:t>Develop personalized management plans based on the predictions, providing recommendations for diet, exercise, medication, and lifestyle changes.</a:t>
            </a:r>
          </a:p>
        </p:txBody>
      </p:sp>
    </p:spTree>
    <p:extLst>
      <p:ext uri="{BB962C8B-B14F-4D97-AF65-F5344CB8AC3E}">
        <p14:creationId xmlns:p14="http://schemas.microsoft.com/office/powerpoint/2010/main" val="111211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760B34F0-A5B5-04E2-AACA-6C3D00FFF524}"/>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190AC80D-7F7A-A588-CA04-5279AC960E35}"/>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F4631334-912F-EB9D-BDA7-D6ED60E9FD24}"/>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3F45091B-7624-9B0F-B4C9-D0FBE66C7D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697C97B7-2B26-095F-ABFA-5C827BB0BF0D}"/>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66E50324-660B-6B90-111A-6D1A89F62411}"/>
              </a:ext>
            </a:extLst>
          </p:cNvPr>
          <p:cNvSpPr txBox="1">
            <a:spLocks/>
          </p:cNvSpPr>
          <p:nvPr/>
        </p:nvSpPr>
        <p:spPr>
          <a:xfrm>
            <a:off x="943292" y="737625"/>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METHODOLOGY</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7219FECB-613C-1566-08FD-2EE9E076B3FE}"/>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C5241DB9-DCEA-8812-7F66-1745F4484D6A}"/>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pic>
        <p:nvPicPr>
          <p:cNvPr id="13" name="Picture 2">
            <a:extLst>
              <a:ext uri="{FF2B5EF4-FFF2-40B4-BE49-F238E27FC236}">
                <a16:creationId xmlns:a16="http://schemas.microsoft.com/office/drawing/2014/main" id="{CC5DC1D2-BC7A-313C-022F-C53B78A79A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4013" y="1288726"/>
            <a:ext cx="6095999" cy="501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410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45D5D9E2-C3B9-84F4-6DC8-5D67C903BDF8}"/>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7" name="TextBox 6">
            <a:extLst>
              <a:ext uri="{FF2B5EF4-FFF2-40B4-BE49-F238E27FC236}">
                <a16:creationId xmlns:a16="http://schemas.microsoft.com/office/drawing/2014/main" id="{03A055AA-DE67-0492-8EDC-F4A0A72CA9D5}"/>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8" name="Straight Connector 7">
            <a:extLst>
              <a:ext uri="{FF2B5EF4-FFF2-40B4-BE49-F238E27FC236}">
                <a16:creationId xmlns:a16="http://schemas.microsoft.com/office/drawing/2014/main" id="{253150B8-D88B-3952-DB2E-670D69598558}"/>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9" name="Picture 4" descr="Thought of our leaders">
            <a:extLst>
              <a:ext uri="{FF2B5EF4-FFF2-40B4-BE49-F238E27FC236}">
                <a16:creationId xmlns:a16="http://schemas.microsoft.com/office/drawing/2014/main" id="{247DC26F-3FB2-995E-AC58-51734A65A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D06D38D2-419F-EAC9-B8A8-20DCACE3E632}"/>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1" name="Title 5">
            <a:extLst>
              <a:ext uri="{FF2B5EF4-FFF2-40B4-BE49-F238E27FC236}">
                <a16:creationId xmlns:a16="http://schemas.microsoft.com/office/drawing/2014/main" id="{F5420D51-8BE7-0559-8AEB-8B71F96B1A4D}"/>
              </a:ext>
            </a:extLst>
          </p:cNvPr>
          <p:cNvSpPr txBox="1">
            <a:spLocks/>
          </p:cNvSpPr>
          <p:nvPr/>
        </p:nvSpPr>
        <p:spPr>
          <a:xfrm>
            <a:off x="943292" y="737625"/>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METHODOLOGY</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Text Placeholder 4">
            <a:extLst>
              <a:ext uri="{FF2B5EF4-FFF2-40B4-BE49-F238E27FC236}">
                <a16:creationId xmlns:a16="http://schemas.microsoft.com/office/drawing/2014/main" id="{1DED716F-1311-99EF-B11A-3726BD763E19}"/>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3" name="TextBox 12">
            <a:extLst>
              <a:ext uri="{FF2B5EF4-FFF2-40B4-BE49-F238E27FC236}">
                <a16:creationId xmlns:a16="http://schemas.microsoft.com/office/drawing/2014/main" id="{E22FEE09-A833-64D0-2DBC-FA2B61592D76}"/>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pic>
        <p:nvPicPr>
          <p:cNvPr id="14" name="Picture 2">
            <a:extLst>
              <a:ext uri="{FF2B5EF4-FFF2-40B4-BE49-F238E27FC236}">
                <a16:creationId xmlns:a16="http://schemas.microsoft.com/office/drawing/2014/main" id="{FF23881B-FAA9-4779-C929-3B2F3FA61E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4013" y="1288726"/>
            <a:ext cx="6095999" cy="5013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04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9A27222E-E642-F301-4028-DF2D573B1CE7}"/>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B9389918-8622-D06D-67B7-33FCAAA58CC2}"/>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5CEEE868-29B0-8129-9962-0EDCACC29A6F}"/>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943C84DF-5571-A0C1-8D7C-AB86AA07D7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D73C0FF0-18B9-8B89-1F94-4EA4E8A2B9E8}"/>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E93341EE-4754-73A2-410F-DAC92612BB46}"/>
              </a:ext>
            </a:extLst>
          </p:cNvPr>
          <p:cNvSpPr txBox="1">
            <a:spLocks/>
          </p:cNvSpPr>
          <p:nvPr/>
        </p:nvSpPr>
        <p:spPr>
          <a:xfrm>
            <a:off x="943292" y="737625"/>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ALGORITHM</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CABA9DA3-E4A9-AB44-E4A3-B1D914A5C679}"/>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355DFFED-750D-6E77-04F9-04629CAF697B}"/>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3" name="TextBox 12">
            <a:extLst>
              <a:ext uri="{FF2B5EF4-FFF2-40B4-BE49-F238E27FC236}">
                <a16:creationId xmlns:a16="http://schemas.microsoft.com/office/drawing/2014/main" id="{425C7C5B-4B9E-52ED-3BD1-C8140E0AC90D}"/>
              </a:ext>
            </a:extLst>
          </p:cNvPr>
          <p:cNvSpPr txBox="1"/>
          <p:nvPr/>
        </p:nvSpPr>
        <p:spPr>
          <a:xfrm>
            <a:off x="793078" y="1221694"/>
            <a:ext cx="11154412" cy="2677656"/>
          </a:xfrm>
          <a:prstGeom prst="rect">
            <a:avLst/>
          </a:prstGeom>
          <a:noFill/>
        </p:spPr>
        <p:txBody>
          <a:bodyPr wrap="square" rtlCol="0">
            <a:spAutoFit/>
          </a:bodyPr>
          <a:lstStyle/>
          <a:p>
            <a:pPr marL="342900" indent="-342900" algn="just">
              <a:buFont typeface="Wingdings" panose="05000000000000000000" pitchFamily="2" charset="2"/>
              <a:buChar char="q"/>
            </a:pPr>
            <a:r>
              <a:rPr lang="en-US" b="0" i="0" dirty="0">
                <a:solidFill>
                  <a:srgbClr val="161616"/>
                </a:solidFill>
                <a:effectLst/>
                <a:latin typeface="IBM Plex Sans" panose="020B0604020202020204" pitchFamily="34" charset="0"/>
              </a:rPr>
              <a:t>SVMs are commonly used within classification problems. </a:t>
            </a:r>
          </a:p>
          <a:p>
            <a:pPr marL="342900" indent="-342900" algn="just">
              <a:buFont typeface="Wingdings" panose="05000000000000000000" pitchFamily="2" charset="2"/>
              <a:buChar char="q"/>
            </a:pPr>
            <a:endParaRPr lang="en-US" b="0" i="0" dirty="0">
              <a:solidFill>
                <a:srgbClr val="161616"/>
              </a:solidFill>
              <a:effectLst/>
              <a:latin typeface="IBM Plex Sans" panose="020B0604020202020204" pitchFamily="34" charset="0"/>
            </a:endParaRPr>
          </a:p>
          <a:p>
            <a:pPr marL="342900" indent="-342900" algn="just">
              <a:buFont typeface="Wingdings" panose="05000000000000000000" pitchFamily="2" charset="2"/>
              <a:buChar char="q"/>
            </a:pPr>
            <a:r>
              <a:rPr lang="en-US" b="0" i="0" dirty="0">
                <a:solidFill>
                  <a:srgbClr val="161616"/>
                </a:solidFill>
                <a:effectLst/>
                <a:latin typeface="IBM Plex Sans" panose="020B0604020202020204" pitchFamily="34" charset="0"/>
              </a:rPr>
              <a:t>They distinguish between two classes by finding the optimal hyperplane that maximizes the margin between the closest data points of opposite classes.</a:t>
            </a:r>
          </a:p>
          <a:p>
            <a:pPr marL="342900" indent="-342900" algn="just">
              <a:buFont typeface="Wingdings" panose="05000000000000000000" pitchFamily="2" charset="2"/>
              <a:buChar char="q"/>
            </a:pPr>
            <a:endParaRPr lang="en-US" b="0" i="0" dirty="0">
              <a:solidFill>
                <a:srgbClr val="161616"/>
              </a:solidFill>
              <a:effectLst/>
              <a:latin typeface="IBM Plex Sans" panose="020B0604020202020204" pitchFamily="34" charset="0"/>
            </a:endParaRPr>
          </a:p>
          <a:p>
            <a:pPr marL="342900" indent="-342900" algn="just">
              <a:buFont typeface="Wingdings" panose="05000000000000000000" pitchFamily="2" charset="2"/>
              <a:buChar char="q"/>
            </a:pPr>
            <a:r>
              <a:rPr lang="en-US" b="0" i="0" dirty="0">
                <a:solidFill>
                  <a:srgbClr val="161616"/>
                </a:solidFill>
                <a:effectLst/>
                <a:latin typeface="IBM Plex Sans" panose="020B0604020202020204" pitchFamily="34" charset="0"/>
              </a:rPr>
              <a:t> The number of features in the input data determine if the hyperplane is a line in a 2-D space or a plane in a n-dimensional space. </a:t>
            </a:r>
            <a:endParaRPr lang="en-IN" dirty="0"/>
          </a:p>
        </p:txBody>
      </p:sp>
      <p:pic>
        <p:nvPicPr>
          <p:cNvPr id="14" name="Picture 2" descr="Architecture of SVM algorithm. | Download Scientific Diagram">
            <a:extLst>
              <a:ext uri="{FF2B5EF4-FFF2-40B4-BE49-F238E27FC236}">
                <a16:creationId xmlns:a16="http://schemas.microsoft.com/office/drawing/2014/main" id="{EB08AFA6-A43C-12F8-BF17-F36D15D180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824" y="3268991"/>
            <a:ext cx="3980847" cy="2650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057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2688C84-7D20-7A3D-C9FE-DB3D1ABAE71D}"/>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6" name="TextBox 5">
            <a:extLst>
              <a:ext uri="{FF2B5EF4-FFF2-40B4-BE49-F238E27FC236}">
                <a16:creationId xmlns:a16="http://schemas.microsoft.com/office/drawing/2014/main" id="{D5411AFA-6C81-A580-B569-CBD3BCE21046}"/>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7" name="Straight Connector 6">
            <a:extLst>
              <a:ext uri="{FF2B5EF4-FFF2-40B4-BE49-F238E27FC236}">
                <a16:creationId xmlns:a16="http://schemas.microsoft.com/office/drawing/2014/main" id="{78422216-E1AB-37AF-488F-99A1C9444F6A}"/>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8" name="Picture 4" descr="Thought of our leaders">
            <a:extLst>
              <a:ext uri="{FF2B5EF4-FFF2-40B4-BE49-F238E27FC236}">
                <a16:creationId xmlns:a16="http://schemas.microsoft.com/office/drawing/2014/main" id="{E1BC204A-A845-F060-500B-BB7EBC777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EB0DBB3-269C-A17C-7B92-91CEBC788020}"/>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0" name="Title 5">
            <a:extLst>
              <a:ext uri="{FF2B5EF4-FFF2-40B4-BE49-F238E27FC236}">
                <a16:creationId xmlns:a16="http://schemas.microsoft.com/office/drawing/2014/main" id="{19C00291-9A57-3716-1317-ACC81941E918}"/>
              </a:ext>
            </a:extLst>
          </p:cNvPr>
          <p:cNvSpPr txBox="1">
            <a:spLocks/>
          </p:cNvSpPr>
          <p:nvPr/>
        </p:nvSpPr>
        <p:spPr>
          <a:xfrm>
            <a:off x="943292" y="737625"/>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RESULTS TILL DATE</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Text Placeholder 4">
            <a:extLst>
              <a:ext uri="{FF2B5EF4-FFF2-40B4-BE49-F238E27FC236}">
                <a16:creationId xmlns:a16="http://schemas.microsoft.com/office/drawing/2014/main" id="{5E3EABE7-B235-5998-2C9E-7F82C23B8A99}"/>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2" name="TextBox 11">
            <a:extLst>
              <a:ext uri="{FF2B5EF4-FFF2-40B4-BE49-F238E27FC236}">
                <a16:creationId xmlns:a16="http://schemas.microsoft.com/office/drawing/2014/main" id="{444323A9-1848-0FE2-D463-1C55363C6835}"/>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4" name="Content Placeholder 1">
            <a:extLst>
              <a:ext uri="{FF2B5EF4-FFF2-40B4-BE49-F238E27FC236}">
                <a16:creationId xmlns:a16="http://schemas.microsoft.com/office/drawing/2014/main" id="{012D0E8A-4D61-DDDF-73E7-71B6FAA4B419}"/>
              </a:ext>
            </a:extLst>
          </p:cNvPr>
          <p:cNvSpPr txBox="1">
            <a:spLocks/>
          </p:cNvSpPr>
          <p:nvPr/>
        </p:nvSpPr>
        <p:spPr>
          <a:xfrm>
            <a:off x="777516" y="1359094"/>
            <a:ext cx="7157095" cy="4366254"/>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just"/>
            <a:r>
              <a:rPr lang="en-US" dirty="0">
                <a:solidFill>
                  <a:schemeClr val="tx1"/>
                </a:solidFill>
              </a:rPr>
              <a:t>SVM in Smart Diabetes Prediction and Management leverages machine learning to identify high-risk individuals early, facilitating timely interventions. It offers data-driven insights for personalized care, helping clinicians create tailored preventive strategies. When paired with wearable technology, it enables continuous health monitoring and proactive adjustments, improving outcomes and reducing costs in diabetes care.</a:t>
            </a:r>
            <a:endParaRPr lang="en-IN" dirty="0">
              <a:solidFill>
                <a:schemeClr val="tx1"/>
              </a:solidFill>
            </a:endParaRPr>
          </a:p>
        </p:txBody>
      </p:sp>
      <p:pic>
        <p:nvPicPr>
          <p:cNvPr id="15" name="Picture 14">
            <a:extLst>
              <a:ext uri="{FF2B5EF4-FFF2-40B4-BE49-F238E27FC236}">
                <a16:creationId xmlns:a16="http://schemas.microsoft.com/office/drawing/2014/main" id="{898C75FC-0D99-BCE9-1079-5B9D24D2463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967861" y="1478667"/>
            <a:ext cx="3767802" cy="4605855"/>
          </a:xfrm>
          <a:prstGeom prst="rect">
            <a:avLst/>
          </a:prstGeom>
        </p:spPr>
      </p:pic>
    </p:spTree>
    <p:extLst>
      <p:ext uri="{BB962C8B-B14F-4D97-AF65-F5344CB8AC3E}">
        <p14:creationId xmlns:p14="http://schemas.microsoft.com/office/powerpoint/2010/main" val="244110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DC088A6B-EA4F-9271-F1C7-6FD764442E20}"/>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5D3DEB12-9786-7502-AB88-8F127990A6FF}"/>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1E428F8D-DEBD-4AE3-D3C0-83F2CE3D51F0}"/>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5A156234-F2A1-9A19-EA75-6D8FE154C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38EB9133-D864-49AF-4200-337ADAEC1BAE}"/>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9" name="Title 5">
            <a:extLst>
              <a:ext uri="{FF2B5EF4-FFF2-40B4-BE49-F238E27FC236}">
                <a16:creationId xmlns:a16="http://schemas.microsoft.com/office/drawing/2014/main" id="{A1A2BEC4-020C-AE51-9FDF-F46C791A0250}"/>
              </a:ext>
            </a:extLst>
          </p:cNvPr>
          <p:cNvSpPr txBox="1">
            <a:spLocks/>
          </p:cNvSpPr>
          <p:nvPr/>
        </p:nvSpPr>
        <p:spPr>
          <a:xfrm>
            <a:off x="943292" y="737625"/>
            <a:ext cx="4441508" cy="295807"/>
          </a:xfrm>
          <a:prstGeom prst="rect">
            <a:avLst/>
          </a:prstGeom>
        </p:spPr>
        <p:txBody>
          <a:bodyPr vert="horz" lIns="91440" tIns="45720" rIns="91440" bIns="45720" rtlCol="0" anchor="b">
            <a:normAutofit fontScale="25000" lnSpcReduction="20000"/>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2800" b="1" dirty="0">
                <a:solidFill>
                  <a:srgbClr val="7030A0"/>
                </a:solidFill>
                <a:latin typeface="Calibri" panose="020F0502020204030204" pitchFamily="34" charset="0"/>
                <a:ea typeface="Calibri" panose="020F0502020204030204" pitchFamily="34" charset="0"/>
                <a:cs typeface="Calibri" panose="020F0502020204030204" pitchFamily="34" charset="0"/>
                <a:sym typeface="Arial" pitchFamily="34" charset="0"/>
              </a:rPr>
              <a:t>REFERENCE</a:t>
            </a:r>
            <a:endParaRPr lang="en-IN"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 Placeholder 4">
            <a:extLst>
              <a:ext uri="{FF2B5EF4-FFF2-40B4-BE49-F238E27FC236}">
                <a16:creationId xmlns:a16="http://schemas.microsoft.com/office/drawing/2014/main" id="{E8C12586-3A22-2EB0-761B-9EB21302494A}"/>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BAFBAF64-3224-5BAF-FCB0-068BC9517F29}"/>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24" name="TextBox 23">
            <a:extLst>
              <a:ext uri="{FF2B5EF4-FFF2-40B4-BE49-F238E27FC236}">
                <a16:creationId xmlns:a16="http://schemas.microsoft.com/office/drawing/2014/main" id="{111E7237-7984-010B-7C34-C1903604F2D2}"/>
              </a:ext>
            </a:extLst>
          </p:cNvPr>
          <p:cNvSpPr txBox="1"/>
          <p:nvPr/>
        </p:nvSpPr>
        <p:spPr>
          <a:xfrm>
            <a:off x="810287" y="1307177"/>
            <a:ext cx="11201400" cy="5847755"/>
          </a:xfrm>
          <a:prstGeom prst="rect">
            <a:avLst/>
          </a:prstGeom>
          <a:noFill/>
        </p:spPr>
        <p:txBody>
          <a:bodyPr wrap="square" rtlCol="0">
            <a:spAutoFit/>
          </a:bodyPr>
          <a:lstStyle/>
          <a:p>
            <a:pPr marL="457200" indent="-457200">
              <a:buFont typeface="+mj-lt"/>
              <a:buAutoNum type="arabicPeriod"/>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S. Li et al., "Diabetes Prediction and Management Using Mobile Health Technology," </a:t>
            </a:r>
            <a:r>
              <a:rPr lang="en-US" sz="2200" i="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Journal of Healthcare Informatics Research</a:t>
            </a: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2022.</a:t>
            </a:r>
          </a:p>
          <a:p>
            <a:pPr marL="457200" indent="-457200">
              <a:buFont typeface="+mj-lt"/>
              <a:buAutoNum type="arabicPeriod"/>
            </a:pPr>
            <a:endPar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IN" sz="2200" b="0" i="0" dirty="0">
                <a:solidFill>
                  <a:schemeClr val="tx1">
                    <a:lumMod val="95000"/>
                    <a:lumOff val="5000"/>
                  </a:schemeClr>
                </a:solidFill>
                <a:effectLst/>
                <a:highlight>
                  <a:srgbClr val="FFFFFF"/>
                </a:highlight>
                <a:latin typeface="Open Sans" panose="020F0502020204030204" pitchFamily="34" charset="0"/>
              </a:rPr>
              <a:t> </a:t>
            </a: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Abhishek Sharma et al., “Predicting Diabetes Using K-Nearest Neighbors and Its Evaluation Using Different Validation Techniques,” </a:t>
            </a:r>
            <a:r>
              <a:rPr lang="en-US" sz="2200" i="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Procedia Computer Science</a:t>
            </a: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2020.</a:t>
            </a:r>
          </a:p>
          <a:p>
            <a:pPr marL="457200" indent="-457200">
              <a:buFont typeface="+mj-lt"/>
              <a:buAutoNum type="arabicPeriod"/>
            </a:pPr>
            <a:endPar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Smitha Sundararajan, “mHealth App for Diabetes Prediction Using KNN and User Lifestyle Data,” </a:t>
            </a:r>
            <a:r>
              <a:rPr lang="en-US" sz="2200" i="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Journal of Healthcare Informatics Research</a:t>
            </a: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2021.</a:t>
            </a:r>
          </a:p>
          <a:p>
            <a:pPr marL="457200" indent="-457200">
              <a:buFont typeface="+mj-lt"/>
              <a:buAutoNum type="arabicPeriod"/>
            </a:pPr>
            <a:endPar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4.	L. Zhang et al. “Machine Learning Approaches in Diabetes Prediction and Management,” IEEE Access, 2021.</a:t>
            </a:r>
            <a:b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br>
            <a:endPar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457200" indent="-457200">
              <a:buFont typeface="+mj-lt"/>
              <a:buAutoNum type="arabicPeriod"/>
            </a:pPr>
            <a:r>
              <a:rPr lang="en-US"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5.	M. Patel, J. McNeil. “Integrating Machine Learning and Wearable Devices for Personalized Diabetes Management,” Journal of Medical Internet Research, 2021.</a:t>
            </a:r>
            <a:endPar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q"/>
            </a:pPr>
            <a:endParaRPr lang="en-IN" sz="2200" b="0" i="0" u="none" strike="noStrike" dirty="0">
              <a:solidFill>
                <a:schemeClr val="tx1">
                  <a:lumMod val="95000"/>
                  <a:lumOff val="5000"/>
                </a:schemeClr>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endParaRPr lang="en-IN" sz="2200" b="0" i="0" u="none" strike="noStrike" dirty="0">
              <a:solidFill>
                <a:schemeClr val="tx1">
                  <a:lumMod val="95000"/>
                  <a:lumOff val="5000"/>
                </a:schemeClr>
              </a:solidFill>
              <a:effectLst/>
              <a:highlight>
                <a:srgbClr val="FFFFFF"/>
              </a:highlight>
              <a:latin typeface="Open Sans" panose="020F0502020204030204" pitchFamily="34" charset="0"/>
            </a:endParaRPr>
          </a:p>
          <a:p>
            <a:pPr marL="285750" indent="-285750">
              <a:buFont typeface="Wingdings" panose="05000000000000000000" pitchFamily="2" charset="2"/>
              <a:buChar char="q"/>
            </a:pPr>
            <a:endParaRPr lang="en-IN" sz="2200" dirty="0">
              <a:solidFill>
                <a:schemeClr val="tx1">
                  <a:lumMod val="95000"/>
                  <a:lumOff val="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257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CCFA357D-3262-9E14-8A83-65600F4CD5EA}"/>
              </a:ext>
            </a:extLst>
          </p:cNvPr>
          <p:cNvSpPr txBox="1">
            <a:spLocks/>
          </p:cNvSpPr>
          <p:nvPr/>
        </p:nvSpPr>
        <p:spPr>
          <a:xfrm rot="16200000">
            <a:off x="-105136" y="105136"/>
            <a:ext cx="972272" cy="762000"/>
          </a:xfrm>
          <a:prstGeom prst="rect">
            <a:avLst/>
          </a:prstGeom>
          <a:solidFill>
            <a:schemeClr val="accent2"/>
          </a:solidFill>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en-US" sz="3200" b="1" dirty="0">
              <a:solidFill>
                <a:schemeClr val="tx1"/>
              </a:solidFill>
            </a:endParaRPr>
          </a:p>
        </p:txBody>
      </p:sp>
      <p:sp>
        <p:nvSpPr>
          <p:cNvPr id="5" name="TextBox 4">
            <a:extLst>
              <a:ext uri="{FF2B5EF4-FFF2-40B4-BE49-F238E27FC236}">
                <a16:creationId xmlns:a16="http://schemas.microsoft.com/office/drawing/2014/main" id="{96021E03-8BB9-B7FE-2C83-0F0CC08374B8}"/>
              </a:ext>
            </a:extLst>
          </p:cNvPr>
          <p:cNvSpPr txBox="1"/>
          <p:nvPr/>
        </p:nvSpPr>
        <p:spPr>
          <a:xfrm>
            <a:off x="762000" y="118590"/>
            <a:ext cx="6657372" cy="400110"/>
          </a:xfrm>
          <a:prstGeom prst="rect">
            <a:avLst/>
          </a:prstGeom>
          <a:noFill/>
        </p:spPr>
        <p:txBody>
          <a:bodyPr wrap="square">
            <a:spAutoFit/>
          </a:bodyPr>
          <a:lstStyle/>
          <a:p>
            <a:r>
              <a:rPr lang="en-US" sz="2000" b="1" dirty="0">
                <a:solidFill>
                  <a:srgbClr val="FF0000"/>
                </a:solidFill>
              </a:rPr>
              <a:t>B.TECH MINOR PROJECT PRESENTATION 2025-2026</a:t>
            </a:r>
          </a:p>
        </p:txBody>
      </p:sp>
      <p:cxnSp>
        <p:nvCxnSpPr>
          <p:cNvPr id="6" name="Straight Connector 5">
            <a:extLst>
              <a:ext uri="{FF2B5EF4-FFF2-40B4-BE49-F238E27FC236}">
                <a16:creationId xmlns:a16="http://schemas.microsoft.com/office/drawing/2014/main" id="{F07F2B8E-A882-776F-8157-3CA19AFA9A3D}"/>
              </a:ext>
            </a:extLst>
          </p:cNvPr>
          <p:cNvCxnSpPr>
            <a:cxnSpLocks/>
          </p:cNvCxnSpPr>
          <p:nvPr/>
        </p:nvCxnSpPr>
        <p:spPr>
          <a:xfrm>
            <a:off x="540774" y="1127567"/>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pic>
        <p:nvPicPr>
          <p:cNvPr id="7" name="Picture 4" descr="Thought of our leaders">
            <a:extLst>
              <a:ext uri="{FF2B5EF4-FFF2-40B4-BE49-F238E27FC236}">
                <a16:creationId xmlns:a16="http://schemas.microsoft.com/office/drawing/2014/main" id="{D62F7873-1040-1882-BD4B-03776519F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5662" y="191210"/>
            <a:ext cx="2092334" cy="781062"/>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0C172F3D-0939-9B12-2709-CB7BC2ACB4AA}"/>
              </a:ext>
            </a:extLst>
          </p:cNvPr>
          <p:cNvCxnSpPr>
            <a:cxnSpLocks/>
          </p:cNvCxnSpPr>
          <p:nvPr/>
        </p:nvCxnSpPr>
        <p:spPr>
          <a:xfrm>
            <a:off x="540774" y="6388883"/>
            <a:ext cx="11651226" cy="0"/>
          </a:xfrm>
          <a:prstGeom prst="line">
            <a:avLst/>
          </a:prstGeom>
          <a:ln w="38100">
            <a:solidFill>
              <a:srgbClr val="FF0000"/>
            </a:solidFill>
          </a:ln>
        </p:spPr>
        <p:style>
          <a:lnRef idx="3">
            <a:schemeClr val="accent2"/>
          </a:lnRef>
          <a:fillRef idx="0">
            <a:schemeClr val="accent2"/>
          </a:fillRef>
          <a:effectRef idx="2">
            <a:schemeClr val="accent2"/>
          </a:effectRef>
          <a:fontRef idx="minor">
            <a:schemeClr val="tx1"/>
          </a:fontRef>
        </p:style>
      </p:cxnSp>
      <p:sp>
        <p:nvSpPr>
          <p:cNvPr id="10" name="Text Placeholder 4">
            <a:extLst>
              <a:ext uri="{FF2B5EF4-FFF2-40B4-BE49-F238E27FC236}">
                <a16:creationId xmlns:a16="http://schemas.microsoft.com/office/drawing/2014/main" id="{D922FE5D-C7DC-A433-9D71-B3D71BCF8229}"/>
              </a:ext>
            </a:extLst>
          </p:cNvPr>
          <p:cNvSpPr>
            <a:spLocks noGrp="1"/>
          </p:cNvSpPr>
          <p:nvPr>
            <p:ph type="body" idx="1"/>
          </p:nvPr>
        </p:nvSpPr>
        <p:spPr>
          <a:xfrm rot="16200000">
            <a:off x="-2561864" y="3534136"/>
            <a:ext cx="5885727" cy="762000"/>
          </a:xfrm>
          <a:solidFill>
            <a:srgbClr val="00B0F0"/>
          </a:solidFill>
          <a:ln>
            <a:noFill/>
          </a:ln>
        </p:spPr>
        <p:txBody>
          <a:bodyPr>
            <a:normAutofit/>
          </a:bodyPr>
          <a:lstStyle/>
          <a:p>
            <a:pPr algn="ctr"/>
            <a:r>
              <a:rPr lang="en-US" sz="3200" b="1" dirty="0" err="1">
                <a:solidFill>
                  <a:schemeClr val="tx1"/>
                </a:solidFill>
              </a:rPr>
              <a:t>Sophitorium</a:t>
            </a:r>
            <a:r>
              <a:rPr lang="en-US" sz="3200" b="1" dirty="0">
                <a:solidFill>
                  <a:schemeClr val="tx1"/>
                </a:solidFill>
              </a:rPr>
              <a:t> Engineering College</a:t>
            </a:r>
          </a:p>
        </p:txBody>
      </p:sp>
      <p:sp>
        <p:nvSpPr>
          <p:cNvPr id="11" name="TextBox 10">
            <a:extLst>
              <a:ext uri="{FF2B5EF4-FFF2-40B4-BE49-F238E27FC236}">
                <a16:creationId xmlns:a16="http://schemas.microsoft.com/office/drawing/2014/main" id="{B8D3D3AD-B9FA-3B49-43FF-7C85071DFD57}"/>
              </a:ext>
            </a:extLst>
          </p:cNvPr>
          <p:cNvSpPr txBox="1"/>
          <p:nvPr/>
        </p:nvSpPr>
        <p:spPr>
          <a:xfrm>
            <a:off x="943292" y="6427113"/>
            <a:ext cx="9468810" cy="430887"/>
          </a:xfrm>
          <a:prstGeom prst="rect">
            <a:avLst/>
          </a:prstGeom>
          <a:noFill/>
        </p:spPr>
        <p:txBody>
          <a:bodyPr wrap="square" rtlCol="0">
            <a:spAutoFit/>
          </a:bodyPr>
          <a:lstStyle/>
          <a:p>
            <a:r>
              <a:rPr lang="en-IN" sz="2200"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Laxmi Kanta Panda (2301332012)</a:t>
            </a:r>
          </a:p>
        </p:txBody>
      </p:sp>
      <p:sp>
        <p:nvSpPr>
          <p:cNvPr id="13" name="Title 2">
            <a:extLst>
              <a:ext uri="{FF2B5EF4-FFF2-40B4-BE49-F238E27FC236}">
                <a16:creationId xmlns:a16="http://schemas.microsoft.com/office/drawing/2014/main" id="{073E3427-BB90-0E62-3213-119F72813793}"/>
              </a:ext>
            </a:extLst>
          </p:cNvPr>
          <p:cNvSpPr txBox="1">
            <a:spLocks/>
          </p:cNvSpPr>
          <p:nvPr/>
        </p:nvSpPr>
        <p:spPr>
          <a:xfrm>
            <a:off x="2817812" y="2644776"/>
            <a:ext cx="6659523" cy="1470025"/>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9600">
                <a:solidFill>
                  <a:srgbClr val="C00000"/>
                </a:solidFill>
              </a:rPr>
              <a:t>Thank You</a:t>
            </a:r>
            <a:endParaRPr lang="en-US" sz="9600" dirty="0">
              <a:solidFill>
                <a:srgbClr val="C00000"/>
              </a:solidFill>
            </a:endParaRPr>
          </a:p>
        </p:txBody>
      </p:sp>
    </p:spTree>
    <p:extLst>
      <p:ext uri="{BB962C8B-B14F-4D97-AF65-F5344CB8AC3E}">
        <p14:creationId xmlns:p14="http://schemas.microsoft.com/office/powerpoint/2010/main" val="7304814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TotalTime>
  <Words>875</Words>
  <Application>Microsoft Office PowerPoint</Application>
  <PresentationFormat>Widescreen</PresentationFormat>
  <Paragraphs>109</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DejaVu Sans</vt:lpstr>
      <vt:lpstr>IBM Plex Sans</vt:lpstr>
      <vt:lpstr>Open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laxmikanta panda</dc:creator>
  <cp:lastModifiedBy>laxmikanta panda</cp:lastModifiedBy>
  <cp:revision>1</cp:revision>
  <dcterms:created xsi:type="dcterms:W3CDTF">2026-04-18T10:09:35Z</dcterms:created>
  <dcterms:modified xsi:type="dcterms:W3CDTF">2026-04-18T10:45:57Z</dcterms:modified>
</cp:coreProperties>
</file>