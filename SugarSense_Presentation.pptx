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36576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182880"/>
            <a:ext cx="1463040" cy="1463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0" y="9144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1645920"/>
            <a:ext cx="548640" cy="548640"/>
          </a:xfrm>
          <a:prstGeom prst="ellipse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438912"/>
            <a:ext cx="246888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57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B.TECH MINOR PROJECT  · 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SugarSense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5EEAD4"/>
                </a:solidFill>
              </a:rPr>
              <a:t>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Smart Diabetes Risk Prediction  &amp;  AI Health Assistant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127248"/>
            <a:ext cx="4389120" cy="3200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735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Sophitorium Engineering College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844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Department of Computer Science &amp;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77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EEAD4"/>
                </a:solidFill>
              </a:rPr>
              <a:t>Under the Guidance of  Prof. Nabin Kumar Nag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572000"/>
            <a:ext cx="2176272" cy="100584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572000"/>
            <a:ext cx="41148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6085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01091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Ramani Ranjan Barik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28523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Roll: 2301332XXX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9503" y="4572000"/>
            <a:ext cx="2176272" cy="100584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9503" y="4572000"/>
            <a:ext cx="41148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46085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501091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Laxmi Kanta Panda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28523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Roll: 2301332012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4648" y="4572000"/>
            <a:ext cx="2176272" cy="100584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84648" y="4572000"/>
            <a:ext cx="41148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4376" y="46085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4376" y="501091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[Team Member 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4376" y="528523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Roll: XXXXXXXXXX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79792" y="4572000"/>
            <a:ext cx="2176272" cy="100584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79792" y="4572000"/>
            <a:ext cx="41148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46085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501091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[Team Member 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528523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Roll: XXXXXXXXXX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74936" y="4572000"/>
            <a:ext cx="2176272" cy="1005840"/>
          </a:xfrm>
          <a:prstGeom prst="rect">
            <a:avLst/>
          </a:prstGeom>
          <a:solidFill>
            <a:srgbClr val="0F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74936" y="4572000"/>
            <a:ext cx="41148" cy="1005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4663" y="46085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4663" y="5010912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[Team Member 5]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4663" y="5285232"/>
            <a:ext cx="1993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Roll: XXXXXXXXXX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5832" y="654710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EEAD4"/>
                </a:solidFill>
              </a:rPr>
              <a:t>All 5 Members —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Global diabetes challenge, what SugarSense solves, and why existing tools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2798064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2798064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881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</a:rPr>
              <a:t>537M+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1790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Adults affected (2021)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24128"/>
            <a:ext cx="2798064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024128"/>
            <a:ext cx="2798064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881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</a:rPr>
              <a:t>700M+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Projected by 2045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024128"/>
            <a:ext cx="2798064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024128"/>
            <a:ext cx="2798064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0881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51790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Cases undiagnosed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024128"/>
            <a:ext cx="2798064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1024128"/>
            <a:ext cx="2798064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088136"/>
            <a:ext cx="2615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EEAD4"/>
                </a:solidFill>
              </a:rPr>
              <a:t>Top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151790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Cause of death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011680"/>
            <a:ext cx="6949440" cy="190195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2011680"/>
            <a:ext cx="41148" cy="19019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084831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is SugarSense Predictor?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450592"/>
            <a:ext cx="6492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 full-stack web app combining an SVM classifier (trained on Pima Indians Diabetes Dataset) with a multi-provider AI Health Chatbot. Users enter 8 clinical metrics — the model predicts Diabetic / Non-Diabetic in &lt;100ms, then the AI chatbot provides personalized health guidance, explains the result, and answers follow-up questions.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7" y="2011680"/>
            <a:ext cx="4416552" cy="190195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24927" y="2011680"/>
            <a:ext cx="4416552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0848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Problem Statement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71231" y="2487168"/>
            <a:ext cx="457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487168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No real-time health guidance after prediction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71231" y="2889504"/>
            <a:ext cx="457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889504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Lab-dependent screening — inaccessible &amp; costly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71231" y="3291840"/>
            <a:ext cx="457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3291840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No conversational AI to explain risk factors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041648"/>
            <a:ext cx="3840480" cy="82296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4041648"/>
            <a:ext cx="41148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114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SVM ML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434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~78% accuracy on Pima dataset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041648"/>
            <a:ext cx="3840480" cy="82296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5112" y="4041648"/>
            <a:ext cx="41148" cy="8229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4114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5 AI Providers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4434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Claude · GPT · Gemini · HF · OpenRouter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4041648"/>
            <a:ext cx="3840480" cy="82296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02752" y="4041648"/>
            <a:ext cx="41148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4114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110+ Q&amp;A KB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4434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Health knowledge embedded in AI prompt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4992624"/>
            <a:ext cx="11494008" cy="1572768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" y="4992624"/>
            <a:ext cx="1149400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</a:rPr>
              <a:t>OBJECTIVES</a:t>
            </a:r>
          </a:p>
        </p:txBody>
      </p:sp>
      <p:sp>
        <p:nvSpPr>
          <p:cNvPr id="49" name="Oval 48"/>
          <p:cNvSpPr/>
          <p:nvPr/>
        </p:nvSpPr>
        <p:spPr>
          <a:xfrm>
            <a:off x="502920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Accurate SVM Prediction</a:t>
            </a:r>
          </a:p>
        </p:txBody>
      </p:sp>
      <p:sp>
        <p:nvSpPr>
          <p:cNvPr id="51" name="Oval 50"/>
          <p:cNvSpPr/>
          <p:nvPr/>
        </p:nvSpPr>
        <p:spPr>
          <a:xfrm>
            <a:off x="2185416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67128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Responsive React UI</a:t>
            </a:r>
          </a:p>
        </p:txBody>
      </p:sp>
      <p:sp>
        <p:nvSpPr>
          <p:cNvPr id="53" name="Oval 52"/>
          <p:cNvSpPr/>
          <p:nvPr/>
        </p:nvSpPr>
        <p:spPr>
          <a:xfrm>
            <a:off x="3867912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9624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Animated Risk Gauge</a:t>
            </a:r>
          </a:p>
        </p:txBody>
      </p:sp>
      <p:sp>
        <p:nvSpPr>
          <p:cNvPr id="55" name="Oval 54"/>
          <p:cNvSpPr/>
          <p:nvPr/>
        </p:nvSpPr>
        <p:spPr>
          <a:xfrm>
            <a:off x="5550408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2120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AI Health Chatbot</a:t>
            </a:r>
          </a:p>
        </p:txBody>
      </p:sp>
      <p:sp>
        <p:nvSpPr>
          <p:cNvPr id="57" name="Oval 56"/>
          <p:cNvSpPr/>
          <p:nvPr/>
        </p:nvSpPr>
        <p:spPr>
          <a:xfrm>
            <a:off x="7232904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14616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Health Knowledge Base</a:t>
            </a:r>
          </a:p>
        </p:txBody>
      </p:sp>
      <p:sp>
        <p:nvSpPr>
          <p:cNvPr id="59" name="Oval 58"/>
          <p:cNvSpPr/>
          <p:nvPr/>
        </p:nvSpPr>
        <p:spPr>
          <a:xfrm>
            <a:off x="8915400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97112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5-Provider Flexibility</a:t>
            </a:r>
          </a:p>
        </p:txBody>
      </p:sp>
      <p:sp>
        <p:nvSpPr>
          <p:cNvPr id="61" name="Oval 60"/>
          <p:cNvSpPr/>
          <p:nvPr/>
        </p:nvSpPr>
        <p:spPr>
          <a:xfrm>
            <a:off x="10597896" y="539496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79608" y="5687568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History Tracking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Ramani Ranjan Barik  ·  Slides 1–2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Pima Indians Diabetes Database — NIDDK / UCI Machine Learning Repository / Kaggle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2816352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2816352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78992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4B8A6"/>
                </a:solidFill>
              </a:rPr>
              <a:t>768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361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Patient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024128"/>
            <a:ext cx="2816352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024128"/>
            <a:ext cx="2816352" cy="4114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078992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EEAD4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5361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Input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024128"/>
            <a:ext cx="2816352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024128"/>
            <a:ext cx="2816352" cy="411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078992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ADE80"/>
                </a:solidFill>
              </a:rPr>
              <a:t>65.1%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5361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Non-Diabetic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24128"/>
            <a:ext cx="2816352" cy="86868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024128"/>
            <a:ext cx="2816352" cy="411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078992"/>
            <a:ext cx="2633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34.9%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53619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Diabetic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011680"/>
            <a:ext cx="11494008" cy="45720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2011680"/>
            <a:ext cx="41148" cy="4572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08483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 Clinical Input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68880"/>
            <a:ext cx="1127455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49631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2496312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24963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2496312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496312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Valid 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49631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Normal 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834640"/>
            <a:ext cx="11274552" cy="45720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926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292608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Pregnancies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Number of times pregnant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29260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92608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 – 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926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 –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305556"/>
            <a:ext cx="11274552" cy="4572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39699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396996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Glucose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33969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2-hour plasma glucose (OGTT)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339699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mg/dL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339699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 – 300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3969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70 – 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76472"/>
            <a:ext cx="11274552" cy="45720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86791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3867911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Blood Pressure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368" y="386791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Diastolic blood pressure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4032" y="3867911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mm Hg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3867911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 – 200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86791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60 –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247388"/>
            <a:ext cx="11274552" cy="4572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338827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338827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Skin Thickness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433882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Triceps skin fold thickness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4032" y="433882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2752" y="4338827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 – 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43388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10 – 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718304"/>
            <a:ext cx="11274552" cy="45720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80974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" y="480974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Insulin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44368" y="48097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2-hour serum insulin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2" y="480974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μU/mL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2752" y="4809744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 – 900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48097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16 – 166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189220"/>
            <a:ext cx="11274552" cy="4572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2806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" y="5280660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BMI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52806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Body mass index (weight / height²)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4032" y="528066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kg/m²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02752" y="528066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10 – 70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52806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18.5 – 24.9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660136"/>
            <a:ext cx="11274552" cy="45720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5751575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" y="5751575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Diabetes Pedigree Fn.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44368" y="575157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Genetic likelihood from family history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5751575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02752" y="5751575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0.05–3.0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58400" y="5751575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0.08–0.8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6131052"/>
            <a:ext cx="11274552" cy="457200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622249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6112" y="6222492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44368" y="62224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Age of the patient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14032" y="622249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Years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02752" y="622249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 – 120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62224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Laxmi Kanta Panda  ·  Slides 3–4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Three-tier client–server design with external AI provider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3739896" cy="5084064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41148" cy="50840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024128"/>
            <a:ext cx="3739896" cy="40233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60704"/>
            <a:ext cx="3557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TIER 1 —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16736"/>
            <a:ext cx="35570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React SPA  (index.html)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82496"/>
            <a:ext cx="3520439" cy="182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65376"/>
            <a:ext cx="502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2880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8-Field validated prediction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9152"/>
            <a:ext cx="502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3225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Animated SVG risk gauge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2928"/>
            <a:ext cx="502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1635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Floating AI chat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4"/>
            <a:ext cx="502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Assessment history 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79"/>
            <a:ext cx="502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03903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Key factor analysis panel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024128"/>
            <a:ext cx="3739896" cy="5084064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024128"/>
            <a:ext cx="41148" cy="50840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1024128"/>
            <a:ext cx="3739896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1060704"/>
            <a:ext cx="3557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TIER 2 —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1316736"/>
            <a:ext cx="35570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Flask Backend  (app.py)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1682496"/>
            <a:ext cx="3520439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865376"/>
            <a:ext cx="5029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182880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GET /  →  Serve React SPA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4256" y="2359152"/>
            <a:ext cx="5029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4" y="23225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POST /predict_api  →  ML inference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2852928"/>
            <a:ext cx="5029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281635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POST /chat  →  AI provider router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3346704"/>
            <a:ext cx="5029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331012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Input validation (client + server)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3840479"/>
            <a:ext cx="50292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3984" y="3803903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Load sc1.pkl &amp; classifier1.pkl at startup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1584" y="1024128"/>
            <a:ext cx="3739896" cy="5084064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1584" y="1024128"/>
            <a:ext cx="41148" cy="50840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1584" y="1024128"/>
            <a:ext cx="3739896" cy="40233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1060704"/>
            <a:ext cx="35570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TIER 3 — AI PROVIDERS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1316736"/>
            <a:ext cx="35570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5 External LLM APIs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11312" y="1682496"/>
            <a:ext cx="3520439" cy="182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11312" y="1865376"/>
            <a:ext cx="50292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82880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Anthropic Claude  (SDK + prompt cache)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2" y="2359152"/>
            <a:ext cx="50292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23225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OpenAI GPT  (httpx REST)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11312" y="2852928"/>
            <a:ext cx="50292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281635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Google Gemini  (httpx REST)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1312" y="3346704"/>
            <a:ext cx="50292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331012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HuggingFace Inference  (httpx REST)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11312" y="3840479"/>
            <a:ext cx="50292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3803903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OpenRouter  (100+ models via httpx)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5655" y="3246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32461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6236208"/>
            <a:ext cx="11494008" cy="329184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2910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B8A6"/>
                </a:solidFill>
              </a:rPr>
              <a:t>ML ARTIFACTS: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629107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sc1.pkl  (StandardScaler — normalise 8 inputs to mean=0, std=1)     classifier1.pkl  (SVM linear kernel — output 0=Non-Diabetic | 1=Diabetic)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Laxmi Kanta Panda  ·  Slides 3–4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Methodology &amp; Algorithm —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6-step ML pipeline from raw CSV to live prediction + why Support Vector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41148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01 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26464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768 records · Pima Indians Diabetes DB · 8 features +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17556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865376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865376"/>
            <a:ext cx="41148" cy="80467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9385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</a:rPr>
              <a:t>02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267712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Handle zero-value missing data · separate X (features) and y (label)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5968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706624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706624"/>
            <a:ext cx="41148" cy="8046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797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03 Train-Test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108960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80% training (614 samples) / 20% test (154) · stratified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34381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547872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547872"/>
            <a:ext cx="41148" cy="80467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6210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04 Feature Scaling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950208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StandardScaler: fit on train → transform both splits → saved as sc1.pkl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427939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4389120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" y="4389120"/>
            <a:ext cx="41148" cy="80467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4622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05 SVM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791456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SVC linear kernel: finds hyperplane maximising class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51206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75569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230368"/>
            <a:ext cx="7680960" cy="80467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5230368"/>
            <a:ext cx="41148" cy="8046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303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</a:rPr>
              <a:t>06 Live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5632704"/>
            <a:ext cx="7360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Validate → scale → predict → return {prediction: 0|1} in &lt;100ms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93024" y="1024128"/>
            <a:ext cx="3657600" cy="5541264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3024" y="1024128"/>
            <a:ext cx="3657600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1115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SVM Explained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1536192"/>
            <a:ext cx="36576" cy="5669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</a:rPr>
              <a:t>Classification: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18105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Finds a hyperplane that maximally separates two classes.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2340864"/>
            <a:ext cx="36576" cy="5669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23591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</a:rPr>
              <a:t>Max Margin: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261518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Distance from hyperplane to nearest points (support vectors) is maximised.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145536"/>
            <a:ext cx="36576" cy="5669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3163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Linear Kernel: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341985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A straight boundary in 8D feature space after StandardScaler normalisation.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3950208"/>
            <a:ext cx="36576" cy="5669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3968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</a:rPr>
              <a:t>Why SVM?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42245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Robust on small datasets · no Gaussian assumption · high-dimensional effective.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4754880"/>
            <a:ext cx="36576" cy="5669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47731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Accuracy: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5029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~78% on test set · Precision ~80% · Recall ~80% · F1 ~81%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1312" y="5925312"/>
            <a:ext cx="859536" cy="566928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11312" y="5925312"/>
            <a:ext cx="859536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57032" y="599846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B8A6"/>
                </a:solidFill>
              </a:rPr>
              <a:t>~78%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7032" y="627278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25712" y="5925312"/>
            <a:ext cx="859536" cy="566928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25712" y="5925312"/>
            <a:ext cx="859536" cy="4114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71432" y="599846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EEAD4"/>
                </a:solidFill>
              </a:rPr>
              <a:t>~80%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71432" y="627278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40112" y="5925312"/>
            <a:ext cx="859536" cy="566928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40112" y="5925312"/>
            <a:ext cx="859536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85832" y="599846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~80%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5832" y="627278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54512" y="5925312"/>
            <a:ext cx="859536" cy="566928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954512" y="5925312"/>
            <a:ext cx="859536" cy="411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00232" y="5998464"/>
            <a:ext cx="768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DE80"/>
                </a:solidFill>
              </a:rPr>
              <a:t>~81%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0232" y="6272784"/>
            <a:ext cx="768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F1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[Team Member 3]  ·  Slides 5–6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Modern, production-grade tools across every layer — frontend, backend, ML, and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41148" cy="131673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⚛  React 18.3.1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B8A6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2551176" cy="1645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CDN + Babel. Single-file SPA — no build step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4" y="102412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4" y="1024128"/>
            <a:ext cx="41148" cy="13167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0972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🐍  Flask ≥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49961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</a:rPr>
              <a:t>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1755648"/>
            <a:ext cx="2551176" cy="1645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828800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REST API server. 5 routes. .env config via python-dotenv.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02412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41148" cy="131673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0972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🤖  scikit-learn ≥ 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49961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72B6"/>
                </a:solidFill>
              </a:rPr>
              <a:t>ML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1755648"/>
            <a:ext cx="2551176" cy="1645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828800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(linear kernel) + StandardScaler via pickle artifacts.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102412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0848" y="1024128"/>
            <a:ext cx="41148" cy="131673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09728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🔢  NumPy ≥ 1.26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49961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DE80"/>
                </a:solidFill>
              </a:rPr>
              <a:t>Numerics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1755648"/>
            <a:ext cx="2551176" cy="16459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576" y="1828800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Array construction for model input; inference pipeline.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48716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2487168"/>
            <a:ext cx="41148" cy="131673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56032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🟣  Anthropic SDK ≥ 0.97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6265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AI Primary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218687"/>
            <a:ext cx="2551176" cy="16459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291839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Claude API with ephemeral prompt caching on system prompt.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5264" y="248716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55264" y="2487168"/>
            <a:ext cx="41148" cy="131673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2" y="256032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🌐  httpx ≥ 0.28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296265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B8A6"/>
                </a:solidFill>
              </a:rPr>
              <a:t>AI 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64992" y="3218687"/>
            <a:ext cx="2551176" cy="1645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4992" y="3291839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OpenAI, Google Gemini, HuggingFace, OpenRouter calls.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248716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63056" y="2487168"/>
            <a:ext cx="41148" cy="13167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4" y="256032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⚙  python-dotenv ≥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296265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</a:rPr>
              <a:t>Config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3218687"/>
            <a:ext cx="2551176" cy="1645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3291839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Load ANTHROPIC_API_KEY, GOOGLE_API_KEY, CHAT_MODEL etc.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0848" y="2487168"/>
            <a:ext cx="2770632" cy="131673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70848" y="2487168"/>
            <a:ext cx="41148" cy="131673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0576" y="2560320"/>
            <a:ext cx="2587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💾  pickle (stdlib)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76" y="2962656"/>
            <a:ext cx="2587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72B6"/>
                </a:solidFill>
              </a:rPr>
              <a:t>Artifacts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3218687"/>
            <a:ext cx="2551176" cy="1645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0576" y="3291839"/>
            <a:ext cx="2587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Deserialize sc1.pkl (scaler) + classifier1.pkl (SVM).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6053328"/>
            <a:ext cx="11494008" cy="548640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" y="6053328"/>
            <a:ext cx="1149400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61264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B8A6"/>
                </a:solidFill>
              </a:rPr>
              <a:t>AI PROVIDER ROUTING  (auto-detected by CHAT_MODEL prefix in .env):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60899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4B8A6"/>
                </a:solidFill>
              </a:rPr>
              <a:t>claude/claude-
➔ Anthropic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94575" y="60899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gpt-/o1/o3/o4
➔ OpenAI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60899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472B6"/>
                </a:solidFill>
              </a:rPr>
              <a:t>gemini-
➔ Google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8048" y="60899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ADE80"/>
                </a:solidFill>
              </a:rPr>
              <a:t>hf/...
➔ HuggingFace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44784" y="6089904"/>
            <a:ext cx="1261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EEAD4"/>
                </a:solidFill>
              </a:rPr>
              <a:t>(anything else)
➔ OpenRouter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[Team Member 3]  ·  Slides 5–6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Features &amp;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Eight core features built and live in the deployed 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41148" cy="2395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B8A6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18488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8-Field Prediction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048256"/>
            <a:ext cx="2514600" cy="1645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121408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Validated inputs with unit labels, normal ranges, and field hints. Client + server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4" y="1024128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4" y="1024128"/>
            <a:ext cx="41148" cy="2395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115568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EEAD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18488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SVM Risk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048256"/>
            <a:ext cx="2514600" cy="16459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21408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Binary ML output (Diabetic / Non-Diabetic) via POST /predict_api. Response in &lt;100ms.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024128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024128"/>
            <a:ext cx="41148" cy="2395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115568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618488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Animated Risk Gauge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2048256"/>
            <a:ext cx="2514600" cy="1645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21408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SVG arc gauge: weighted clinical scoring → 2–98% visual risk. Smooth CSS animation.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0848" y="1024128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0848" y="1024128"/>
            <a:ext cx="41148" cy="23957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115568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72B6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618488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Key Factor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2048256"/>
            <a:ext cx="2514600" cy="1645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4" y="2121408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4 risk factors (Glucose, BMI, Blood Pressure, Insulin) colour-coded by clinical threshold.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566160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3566160"/>
            <a:ext cx="41148" cy="2395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657600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DE80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160520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AI Health Chatbot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590288"/>
            <a:ext cx="2514600" cy="16459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663440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Floating multi-turn chat panel. Full conversation history sent per request.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5264" y="3566160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55264" y="3566160"/>
            <a:ext cx="41148" cy="2395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657600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B8A6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160520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5-Provider AI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590288"/>
            <a:ext cx="2514600" cy="1645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4663440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Anthropic, OpenAI, Google, HuggingFace, OpenRouter — switch via .env CHAT_MODEL only.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3566160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63056" y="3566160"/>
            <a:ext cx="41148" cy="2395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657600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EEAD4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4160520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Health Knowledge Base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4590288"/>
            <a:ext cx="2514600" cy="16459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4663440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110+ Q&amp;A pairs (10 categories) loaded from JSON and embedded into AI system prompt.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0848" y="3566160"/>
            <a:ext cx="2770632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70848" y="3566160"/>
            <a:ext cx="41148" cy="2395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98864" y="3657600"/>
            <a:ext cx="25511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4" y="4160520"/>
            <a:ext cx="25511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Assessment History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4590288"/>
            <a:ext cx="2514600" cy="1645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4" y="4663440"/>
            <a:ext cx="25511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Last 5 predictions persisted in browser localStorage. History tab with metrics + dates.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[Team Member 4]  ·  Slides 7–8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Health Chatbot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Multi-provider conversational AI with a 110+ Q&amp;A structured diabetes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5394960" cy="5541264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41148" cy="55412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Knowledge Base  (health_knowledge.json)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447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4A3B8"/>
                </a:solidFill>
              </a:rPr>
              <a:t>Loaded at Flask startup · Appended to AI system prompt as structured markdown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719072"/>
            <a:ext cx="5029200" cy="182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" y="1920240"/>
            <a:ext cx="50292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5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</a:rPr>
              <a:t>Form Fields (×8)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40 Q&amp;A — every feature, ranges, 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2359152"/>
            <a:ext cx="5029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</a:rPr>
              <a:t>Diabetes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Q&amp;A — Type 1, Type 2, Pre-diabetes, Gestational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798064"/>
            <a:ext cx="5029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Symptoms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9923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Q&amp;A — Signs, DKA, Hypoglycemia, Hyperglycemia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236976"/>
            <a:ext cx="5029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2783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</a:rPr>
              <a:t>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38144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Q&amp;A — Lifestyle, diet, exercise, sleep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3675887"/>
            <a:ext cx="50292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6674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Diet &amp; Nutrition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7705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8 Q&amp;A — Glycemic index, best &amp; worst foods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114800"/>
            <a:ext cx="50292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0565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</a:rPr>
              <a:t>Exercise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15968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5 Q&amp;A — Types, frequency, blood sugar effect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" y="4553712"/>
            <a:ext cx="5029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4456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</a:rPr>
              <a:t>Blood Sugar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4 Q&amp;A — HbA1c, CGM, target ranges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992624"/>
            <a:ext cx="5029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Complications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93792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5 Q&amp;A — Neuropathy, retinopathy, kidneys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5431536"/>
            <a:ext cx="5029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2239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</a:rPr>
              <a:t>Medications &amp; Treatment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32703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4 Q&amp;A — Metformin, Insulin, GLP-1 (Ozempic)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5870448"/>
            <a:ext cx="50292" cy="2560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61304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About SugarSense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71616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6 Q&amp;A — How it works, disclaimers, next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88736" y="1024128"/>
            <a:ext cx="5961888" cy="239572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88736" y="1024128"/>
            <a:ext cx="5961888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53328" y="11155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5-Provider AI 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1481328"/>
            <a:ext cx="1926335" cy="768096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1481328"/>
            <a:ext cx="41148" cy="7680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53328" y="1536192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</a:rPr>
              <a:t>🟣 Anthropic Claude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1828800"/>
            <a:ext cx="1743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claude / claude-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61376" y="1481328"/>
            <a:ext cx="1926335" cy="768096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61376" y="1481328"/>
            <a:ext cx="41148" cy="7680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1104" y="1536192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</a:rPr>
              <a:t>🟢 OpenAI GPT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1104" y="1828800"/>
            <a:ext cx="1743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gpt- / o1 / o4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79152" y="1481328"/>
            <a:ext cx="1926335" cy="768096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79152" y="1481328"/>
            <a:ext cx="41148" cy="76809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88880" y="1536192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</a:rPr>
              <a:t>🔵 Google Gemini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88880" y="1828800"/>
            <a:ext cx="1743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gemini-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377440"/>
            <a:ext cx="1926335" cy="768096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2377440"/>
            <a:ext cx="41148" cy="76809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8" y="2432304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</a:rPr>
              <a:t>🟡 HuggingFace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3328" y="2724912"/>
            <a:ext cx="1743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hf/model-name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61376" y="2377440"/>
            <a:ext cx="1926335" cy="768096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61376" y="2377440"/>
            <a:ext cx="41148" cy="7680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71104" y="2432304"/>
            <a:ext cx="1743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</a:rPr>
              <a:t>🔴 OpenRouter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71104" y="2724912"/>
            <a:ext cx="1743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any other string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88736" y="3547872"/>
            <a:ext cx="5961888" cy="129844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88736" y="3547872"/>
            <a:ext cx="5961888" cy="4114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53328" y="3639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</a:rPr>
              <a:t>Prompt Caching (Claude)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53328" y="3968496"/>
            <a:ext cx="5486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System prompt (role + full KB) sent with cache_control: ephemeral.
Anthropic caches the prefix for 5 min → lower latency + reduced API cost on repeated chat requests.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88736" y="4974336"/>
            <a:ext cx="5961888" cy="1591056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88736" y="4974336"/>
            <a:ext cx="5961888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53328" y="506577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Multi-Turn Conversation Flow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3328" y="5394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1.  User types → React bundles full history[] array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3328" y="5724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2.  POST /chat → Flask strips leading assistant turns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53328" y="60533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3.  LLM receives [system prompt + conversation history]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53328" y="63825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4.  Reply appended to messages → chat auto-scrolls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[Team Member 4]  ·  Slides 7–8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91440"/>
            <a:ext cx="114940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40080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Model performance metrics, literature comparison, and the planned development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24128"/>
            <a:ext cx="2816352" cy="11155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024128"/>
            <a:ext cx="2816352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789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4B8A6"/>
                </a:solidFill>
              </a:rPr>
              <a:t>~78%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093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024128"/>
            <a:ext cx="2816352" cy="11155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024128"/>
            <a:ext cx="2816352" cy="4114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0789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EEAD4"/>
                </a:solidFill>
              </a:rPr>
              <a:t>~80%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6093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024128"/>
            <a:ext cx="2816352" cy="11155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024128"/>
            <a:ext cx="2816352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0789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</a:rPr>
              <a:t>~80%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093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24128"/>
            <a:ext cx="2816352" cy="11155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024128"/>
            <a:ext cx="2816352" cy="411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07899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~81%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6093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286000"/>
            <a:ext cx="6766560" cy="427939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2286000"/>
            <a:ext cx="41148" cy="42793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35915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Literature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43200"/>
            <a:ext cx="6583680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70632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Authors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277063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770632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77063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081528"/>
            <a:ext cx="6583680" cy="384048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154680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S. Patel &amp; R. Goyal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752" y="315468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154680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(RBF)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315468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78%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483864"/>
            <a:ext cx="6583680" cy="38404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57016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M. Elshazly &amp; Motaba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55701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3557016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vs DT vs LR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355701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81%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86200"/>
            <a:ext cx="6583680" cy="384048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959352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N. Kumar &amp; Srivastava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0752" y="395935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3959352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+ KNN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395935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83%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288536"/>
            <a:ext cx="6583680" cy="38404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361688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A. Banerjee &amp; Tiwari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30752" y="4361688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4361688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+ RFE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436168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85%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90872"/>
            <a:ext cx="6583680" cy="384048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764024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H. Kaur &amp; M. Singh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30752" y="476402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07408" y="4764024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SVM + Bagging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476402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4B8A6"/>
                </a:solidFill>
              </a:rPr>
              <a:t>86%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093208"/>
            <a:ext cx="6583680" cy="384048"/>
          </a:xfrm>
          <a:prstGeom prst="rect">
            <a:avLst/>
          </a:prstGeom>
          <a:solidFill>
            <a:srgbClr val="0A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166360"/>
            <a:ext cx="31821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AD4"/>
                </a:solidFill>
              </a:rPr>
              <a:t>SugarSense  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0752" y="516636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AD4"/>
                </a:solidFill>
              </a:rPr>
              <a:t>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07408" y="5166360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AD4"/>
                </a:solidFill>
              </a:rPr>
              <a:t>SVM (linear)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516636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EEAD4"/>
                </a:solidFill>
              </a:rPr>
              <a:t>~78%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0336" y="2286000"/>
            <a:ext cx="4590288" cy="427939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60336" y="2286000"/>
            <a:ext cx="4590288" cy="411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0" y="237744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Future Work</a:t>
            </a:r>
          </a:p>
        </p:txBody>
      </p:sp>
      <p:sp>
        <p:nvSpPr>
          <p:cNvPr id="62" name="Oval 61"/>
          <p:cNvSpPr/>
          <p:nvPr/>
        </p:nvSpPr>
        <p:spPr>
          <a:xfrm>
            <a:off x="7406640" y="2862072"/>
            <a:ext cx="54864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24927" y="2880360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0" y="28712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Trend Graphs + Real Confidence Score</a:t>
            </a:r>
          </a:p>
        </p:txBody>
      </p:sp>
      <p:sp>
        <p:nvSpPr>
          <p:cNvPr id="65" name="Oval 64"/>
          <p:cNvSpPr/>
          <p:nvPr/>
        </p:nvSpPr>
        <p:spPr>
          <a:xfrm>
            <a:off x="7406640" y="3282696"/>
            <a:ext cx="54864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7" y="3300984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Data Encryption &amp; HIPAA Compliance</a:t>
            </a:r>
          </a:p>
        </p:txBody>
      </p:sp>
      <p:sp>
        <p:nvSpPr>
          <p:cNvPr id="68" name="Oval 67"/>
          <p:cNvSpPr/>
          <p:nvPr/>
        </p:nvSpPr>
        <p:spPr>
          <a:xfrm>
            <a:off x="7406640" y="3703320"/>
            <a:ext cx="54864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24927" y="372160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371246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Alert System for Rising Risk Trends</a:t>
            </a:r>
          </a:p>
        </p:txBody>
      </p:sp>
      <p:sp>
        <p:nvSpPr>
          <p:cNvPr id="71" name="Oval 70"/>
          <p:cNvSpPr/>
          <p:nvPr/>
        </p:nvSpPr>
        <p:spPr>
          <a:xfrm>
            <a:off x="7406640" y="4123944"/>
            <a:ext cx="54864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24927" y="414223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0" y="4133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User Authentication + Database Storage</a:t>
            </a:r>
          </a:p>
        </p:txBody>
      </p:sp>
      <p:sp>
        <p:nvSpPr>
          <p:cNvPr id="74" name="Oval 73"/>
          <p:cNvSpPr/>
          <p:nvPr/>
        </p:nvSpPr>
        <p:spPr>
          <a:xfrm>
            <a:off x="7406640" y="4544568"/>
            <a:ext cx="54864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24927" y="4562856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46720" y="4553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Wearable CGM Device Integration</a:t>
            </a:r>
          </a:p>
        </p:txBody>
      </p:sp>
      <p:sp>
        <p:nvSpPr>
          <p:cNvPr id="77" name="Oval 76"/>
          <p:cNvSpPr/>
          <p:nvPr/>
        </p:nvSpPr>
        <p:spPr>
          <a:xfrm>
            <a:off x="7406640" y="4965192"/>
            <a:ext cx="54864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24927" y="4983480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4974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Feature Importance Bar Chart</a:t>
            </a:r>
          </a:p>
        </p:txBody>
      </p:sp>
      <p:sp>
        <p:nvSpPr>
          <p:cNvPr id="80" name="Oval 79"/>
          <p:cNvSpPr/>
          <p:nvPr/>
        </p:nvSpPr>
        <p:spPr>
          <a:xfrm>
            <a:off x="7406640" y="5385816"/>
            <a:ext cx="54864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24927" y="5404104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4672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Cloud Deployment (AWS/GCP + HTTPS)</a:t>
            </a:r>
          </a:p>
        </p:txBody>
      </p:sp>
      <p:sp>
        <p:nvSpPr>
          <p:cNvPr id="83" name="Oval 82"/>
          <p:cNvSpPr/>
          <p:nvPr/>
        </p:nvSpPr>
        <p:spPr>
          <a:xfrm>
            <a:off x="7406640" y="5806440"/>
            <a:ext cx="54864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24927" y="5824728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20" y="5815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Model Retraining Pipeline</a:t>
            </a:r>
          </a:p>
        </p:txBody>
      </p:sp>
      <p:sp>
        <p:nvSpPr>
          <p:cNvPr id="86" name="Oval 85"/>
          <p:cNvSpPr/>
          <p:nvPr/>
        </p:nvSpPr>
        <p:spPr>
          <a:xfrm>
            <a:off x="7406640" y="6227064"/>
            <a:ext cx="54864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24927" y="62453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0" y="6236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Multi-language Support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400032" y="6510528"/>
            <a:ext cx="274320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18320" y="6519672"/>
            <a:ext cx="27066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▶  [Team Member 5]  ·  Slides 9–10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0"/>
            <a:ext cx="3200400" cy="32004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4320" y="457200"/>
            <a:ext cx="1828800" cy="1828800"/>
          </a:xfrm>
          <a:prstGeom prst="ellipse">
            <a:avLst/>
          </a:prstGeom>
          <a:solidFill>
            <a:srgbClr val="0C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0" y="5029200"/>
            <a:ext cx="1828800" cy="1828800"/>
          </a:xfrm>
          <a:prstGeom prst="ellipse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6400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713232"/>
            <a:ext cx="7589520" cy="1042415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713232"/>
            <a:ext cx="758952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86384"/>
            <a:ext cx="7269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SugarSense Predictor successfully combines a proven SVM classifier (~78% accuracy) with a 5-provider AI chatbot into a unified, full-stack web application. The system delivers fast, evidence-based diabetes risk screening with immediate personalized health guidance — all configurable via a single environment file and deployable anywhere.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883664"/>
            <a:ext cx="1481328" cy="117043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883664"/>
            <a:ext cx="41148" cy="1170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1938528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23591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Proven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2651760"/>
            <a:ext cx="1353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SVM linear kernel · ~78% accuracy · consistent with 7 published studies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1883664"/>
            <a:ext cx="1481328" cy="117043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01952" y="1883664"/>
            <a:ext cx="41148" cy="11704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78024" y="1938528"/>
            <a:ext cx="329184" cy="329184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23591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Modern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2651760"/>
            <a:ext cx="1353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React SPA + Flask REST · clean 3-tier architecture · JSON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1883664"/>
            <a:ext cx="1481328" cy="117043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6432" y="1883664"/>
            <a:ext cx="41148" cy="1170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32504" y="1938528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23591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 AI Providers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2651760"/>
            <a:ext cx="1353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1 env var switches between Claude, GPT, Gemini, HF, OpenRouter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0912" y="1883664"/>
            <a:ext cx="1481328" cy="117043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10912" y="1883664"/>
            <a:ext cx="41148" cy="11704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86984" y="1938528"/>
            <a:ext cx="329184" cy="32918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23591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2651760"/>
            <a:ext cx="1353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110+ Q&amp;A in 10 diabetes categories · embedded in AI system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2" y="1883664"/>
            <a:ext cx="1481328" cy="1170432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65392" y="1883664"/>
            <a:ext cx="41148" cy="1170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41464" y="1938528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8544" y="2359152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Ready to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2651760"/>
            <a:ext cx="1353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</a:rPr>
              <a:t>Prompt caching · multi-turn chat · graceful error handling built 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3218688"/>
            <a:ext cx="7589520" cy="3401568"/>
          </a:xfrm>
          <a:prstGeom prst="rect">
            <a:avLst/>
          </a:prstGeom>
          <a:solidFill>
            <a:srgbClr val="10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" y="3218688"/>
            <a:ext cx="41148" cy="34015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9184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8" name="Oval 37"/>
          <p:cNvSpPr/>
          <p:nvPr/>
        </p:nvSpPr>
        <p:spPr>
          <a:xfrm>
            <a:off x="475488" y="3730751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3730751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S. Patel &amp; R. Goyal — Diabetes Prediction Using SVMs, IJCA vol.178, 2019</a:t>
            </a:r>
          </a:p>
        </p:txBody>
      </p:sp>
      <p:sp>
        <p:nvSpPr>
          <p:cNvPr id="40" name="Oval 39"/>
          <p:cNvSpPr/>
          <p:nvPr/>
        </p:nvSpPr>
        <p:spPr>
          <a:xfrm>
            <a:off x="475488" y="4206239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4206239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M. Elshazly &amp; Motaba — ML for Diabetes Prediction: Comparative Study, 2020</a:t>
            </a:r>
          </a:p>
        </p:txBody>
      </p:sp>
      <p:sp>
        <p:nvSpPr>
          <p:cNvPr id="42" name="Oval 41"/>
          <p:cNvSpPr/>
          <p:nvPr/>
        </p:nvSpPr>
        <p:spPr>
          <a:xfrm>
            <a:off x="475488" y="4681727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4681727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N. Kumar &amp; Srivastava — SVM and KNN Hybrid Model, Procedia CS vol.190, 2021</a:t>
            </a:r>
          </a:p>
        </p:txBody>
      </p:sp>
      <p:sp>
        <p:nvSpPr>
          <p:cNvPr id="44" name="Oval 43"/>
          <p:cNvSpPr/>
          <p:nvPr/>
        </p:nvSpPr>
        <p:spPr>
          <a:xfrm>
            <a:off x="475488" y="5157216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" y="51572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J. Smith &amp; P. Nguyen — Early Detection Using ML Algorithms, IEEE Access, 2021</a:t>
            </a:r>
          </a:p>
        </p:txBody>
      </p:sp>
      <p:sp>
        <p:nvSpPr>
          <p:cNvPr id="46" name="Oval 45"/>
          <p:cNvSpPr/>
          <p:nvPr/>
        </p:nvSpPr>
        <p:spPr>
          <a:xfrm>
            <a:off x="475488" y="5632703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5632703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A. Banerjee &amp; Tiwari — SVM with RFE Feature Selection, Applied Intelligence, 2022</a:t>
            </a:r>
          </a:p>
        </p:txBody>
      </p:sp>
      <p:sp>
        <p:nvSpPr>
          <p:cNvPr id="48" name="Oval 47"/>
          <p:cNvSpPr/>
          <p:nvPr/>
        </p:nvSpPr>
        <p:spPr>
          <a:xfrm>
            <a:off x="475488" y="6108191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" y="6108191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S. Li et al. — Diabetes Prediction Using Mobile Health Technology, 2022</a:t>
            </a:r>
          </a:p>
        </p:txBody>
      </p:sp>
      <p:sp>
        <p:nvSpPr>
          <p:cNvPr id="50" name="Oval 49"/>
          <p:cNvSpPr/>
          <p:nvPr/>
        </p:nvSpPr>
        <p:spPr>
          <a:xfrm>
            <a:off x="4279392" y="3730751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9431" y="3730751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H. Kaur &amp; M. Singh — SVM with Ensemble Methods, Expert Systems, 2023</a:t>
            </a:r>
          </a:p>
        </p:txBody>
      </p:sp>
      <p:sp>
        <p:nvSpPr>
          <p:cNvPr id="52" name="Oval 51"/>
          <p:cNvSpPr/>
          <p:nvPr/>
        </p:nvSpPr>
        <p:spPr>
          <a:xfrm>
            <a:off x="4279392" y="4206239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9431" y="4206239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Smith et al. (1988) — Using ADAP Algorithm to Forecast Onset of Diabetes (Pima dataset)</a:t>
            </a:r>
          </a:p>
        </p:txBody>
      </p:sp>
      <p:sp>
        <p:nvSpPr>
          <p:cNvPr id="54" name="Oval 53"/>
          <p:cNvSpPr/>
          <p:nvPr/>
        </p:nvSpPr>
        <p:spPr>
          <a:xfrm>
            <a:off x="4279392" y="4681727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31" y="4681727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Pedregosa et al. (2011) — Scikit-learn: ML in Python, JMLR 12, 2825–2830</a:t>
            </a:r>
          </a:p>
        </p:txBody>
      </p:sp>
      <p:sp>
        <p:nvSpPr>
          <p:cNvPr id="56" name="Oval 55"/>
          <p:cNvSpPr/>
          <p:nvPr/>
        </p:nvSpPr>
        <p:spPr>
          <a:xfrm>
            <a:off x="4279392" y="5157216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9431" y="515721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Anthropic (2025) — Claude API Documentation · docs.anthropic.com</a:t>
            </a:r>
          </a:p>
        </p:txBody>
      </p:sp>
      <p:sp>
        <p:nvSpPr>
          <p:cNvPr id="58" name="Oval 57"/>
          <p:cNvSpPr/>
          <p:nvPr/>
        </p:nvSpPr>
        <p:spPr>
          <a:xfrm>
            <a:off x="4279392" y="5632703"/>
            <a:ext cx="256032" cy="25603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9431" y="5632703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IDF Diabetes Atlas 10th ed. (2021) · diabetesatlas.org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01583" y="3218688"/>
            <a:ext cx="3749039" cy="34015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01583" y="3218688"/>
            <a:ext cx="3749039" cy="3657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3364992"/>
            <a:ext cx="3657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THANK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041648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5EEAD4"/>
                </a:solidFill>
              </a:rPr>
              <a:t>YOU!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4919472"/>
            <a:ext cx="32918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5010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Questions Welcome!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5394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F5EA"/>
                </a:solidFill>
              </a:rPr>
              <a:t>Sophitorium Engineering College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566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2F5EA"/>
                </a:solidFill>
              </a:rPr>
              <a:t>Prof. Nabin Kumar Nag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47472" y="6473952"/>
            <a:ext cx="11494008" cy="347472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5105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01. Ramani Ranjan Barik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67512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Roll: 2301332XXX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40" y="65105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02. Laxmi Kanta Panda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667512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Roll: 2301332012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65105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03. [Team Member 3]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0" y="667512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Roll: XXXXXXXXXX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0" y="65105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04. [Team Member 4]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667512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Roll: XXXXXXXXXX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51052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05. [Team Member 5]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667512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Roll: 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